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slideMasters/slideMaster9.xml" ContentType="application/vnd.openxmlformats-officedocument.presentationml.slideMaster+xml"/>
  <Override PartName="/ppt/slides/slide9.xml" ContentType="application/vnd.openxmlformats-officedocument.presentationml.slide+xml"/>
  <Override PartName="/ppt/slideMasters/slideMaster10.xml" ContentType="application/vnd.openxmlformats-officedocument.presentationml.slideMaster+xml"/>
  <Override PartName="/ppt/slides/slide10.xml" ContentType="application/vnd.openxmlformats-officedocument.presentationml.slide+xml"/>
  <Override PartName="/ppt/slideMasters/slideMaster11.xml" ContentType="application/vnd.openxmlformats-officedocument.presentationml.slideMaster+xml"/>
  <Override PartName="/ppt/slides/slide11.xml" ContentType="application/vnd.openxmlformats-officedocument.presentationml.slide+xml"/>
  <Override PartName="/ppt/slideMasters/slideMaster12.xml" ContentType="application/vnd.openxmlformats-officedocument.presentationml.slideMaster+xml"/>
  <Override PartName="/ppt/slides/slide12.xml" ContentType="application/vnd.openxmlformats-officedocument.presentationml.slide+xml"/>
  <Override PartName="/ppt/slideMasters/slideMaster13.xml" ContentType="application/vnd.openxmlformats-officedocument.presentationml.slideMaster+xml"/>
  <Override PartName="/ppt/slides/slide13.xml" ContentType="application/vnd.openxmlformats-officedocument.presentationml.slide+xml"/>
  <Override PartName="/ppt/slideMasters/slideMaster14.xml" ContentType="application/vnd.openxmlformats-officedocument.presentationml.slideMaster+xml"/>
  <Override PartName="/ppt/slides/slide14.xml" ContentType="application/vnd.openxmlformats-officedocument.presentationml.slide+xml"/>
  <Override PartName="/ppt/slideMasters/slideMaster15.xml" ContentType="application/vnd.openxmlformats-officedocument.presentationml.slideMaster+xml"/>
  <Override PartName="/ppt/slides/slide15.xml" ContentType="application/vnd.openxmlformats-officedocument.presentationml.slide+xml"/>
  <Override PartName="/ppt/slideMasters/slideMaster16.xml" ContentType="application/vnd.openxmlformats-officedocument.presentationml.slideMaster+xml"/>
  <Override PartName="/ppt/slides/slide16.xml" ContentType="application/vnd.openxmlformats-officedocument.presentationml.slide+xml"/>
  <Override PartName="/ppt/slideMasters/slideMaster17.xml" ContentType="application/vnd.openxmlformats-officedocument.presentationml.slideMaster+xml"/>
  <Override PartName="/ppt/slides/slide17.xml" ContentType="application/vnd.openxmlformats-officedocument.presentationml.slide+xml"/>
  <Override PartName="/ppt/slideMasters/slideMaster18.xml" ContentType="application/vnd.openxmlformats-officedocument.presentationml.slideMaster+xml"/>
  <Override PartName="/ppt/slides/slide18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ppt/notesSlides/notesSlide16.xml" ContentType="application/vnd.openxmlformats-officedocument.presentationml.notesSlide+xml"/>
  <Override PartName="/ppt/notesSlides/notesSlide17.xml" ContentType="application/vnd.openxmlformats-officedocument.presentationml.notesSlide+xml"/>
  <Override PartName="/ppt/notesSlides/notesSlide18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  <p:sldId id="268" r:id="rId14"/>
    <p:sldId id="269" r:id="rId15"/>
    <p:sldId id="270" r:id="rId16"/>
    <p:sldId id="271" r:id="rId17"/>
    <p:sldId id="272" r:id="rId18"/>
    <p:sldId id="273" r:id="rId19"/>
  </p:sldIdLst>
  <p:notesMasterIdLst>
    <p:notesMasterId r:id="rId20"/>
  </p:notesMasterIdLst>
  <p:sldSz cx="9144000" cy="5143500"/>
  <p:notesSz cx="5143500" cy="9144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slide" Target="slides/slide10.xml"/><Relationship Id="rId12" Type="http://schemas.openxmlformats.org/officeDocument/2006/relationships/slide" Target="slides/slide11.xml"/><Relationship Id="rId13" Type="http://schemas.openxmlformats.org/officeDocument/2006/relationships/slide" Target="slides/slide12.xml"/><Relationship Id="rId14" Type="http://schemas.openxmlformats.org/officeDocument/2006/relationships/slide" Target="slides/slide13.xml"/><Relationship Id="rId15" Type="http://schemas.openxmlformats.org/officeDocument/2006/relationships/slide" Target="slides/slide14.xml"/><Relationship Id="rId16" Type="http://schemas.openxmlformats.org/officeDocument/2006/relationships/slide" Target="slides/slide15.xml"/><Relationship Id="rId17" Type="http://schemas.openxmlformats.org/officeDocument/2006/relationships/slide" Target="slides/slide16.xml"/><Relationship Id="rId18" Type="http://schemas.openxmlformats.org/officeDocument/2006/relationships/slide" Target="slides/slide17.xml"/><Relationship Id="rId19" Type="http://schemas.openxmlformats.org/officeDocument/2006/relationships/slide" Target="slides/slide18.xml"/><Relationship Id="rId20" Type="http://schemas.openxmlformats.org/officeDocument/2006/relationships/notesMaster" Target="notesMasters/notesMaster1.xml"/><Relationship Id="rId21" Type="http://schemas.openxmlformats.org/officeDocument/2006/relationships/presProps" Target="presProps.xml"/><Relationship Id="rId22" Type="http://schemas.openxmlformats.org/officeDocument/2006/relationships/viewProps" Target="viewProps.xml"/><Relationship Id="rId23" Type="http://schemas.openxmlformats.org/officeDocument/2006/relationships/theme" Target="theme/theme1.xml"/><Relationship Id="rId24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_rels/notesSlide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9.xml"/>
		</Relationships>
</file>

<file path=ppt/notesSlides/_rels/notesSlide1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0.xml"/>
		</Relationships>
</file>

<file path=ppt/notesSlides/_rels/notesSlide1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1.xml"/>
		</Relationships>
</file>

<file path=ppt/notesSlides/_rels/notesSlide1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2.xml"/>
		</Relationships>
</file>

<file path=ppt/notesSlides/_rels/notesSlide1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3.xml"/>
		</Relationships>
</file>

<file path=ppt/notesSlides/_rels/notesSlide1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4.xml"/>
		</Relationships>
</file>

<file path=ppt/notesSlides/_rels/notesSlide1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5.xml"/>
		</Relationships>
</file>

<file path=ppt/notesSlides/_rels/notesSlide1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6.xml"/>
		</Relationships>
</file>

<file path=ppt/notesSlides/_rels/notesSlide1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7.xml"/>
		</Relationships>
</file>

<file path=ppt/notesSlides/_rels/notesSlide1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8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8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9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0-1.png"/><Relationship Id="rId2" Type="http://schemas.openxmlformats.org/officeDocument/2006/relationships/image" Target="../media/image-10-2.png"/><Relationship Id="rId3" Type="http://schemas.openxmlformats.org/officeDocument/2006/relationships/image" Target="../media/image-10-3.png"/><Relationship Id="rId4" Type="http://schemas.openxmlformats.org/officeDocument/2006/relationships/image" Target="../media/image-10-4.png"/><Relationship Id="rId5" Type="http://schemas.openxmlformats.org/officeDocument/2006/relationships/slideLayout" Target="../slideLayouts/slideLayout1.xml"/><Relationship Id="rId6" Type="http://schemas.openxmlformats.org/officeDocument/2006/relationships/notesSlide" Target="../notesSlides/notesSlide10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1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2-1.png"/><Relationship Id="rId2" Type="http://schemas.openxmlformats.org/officeDocument/2006/relationships/image" Target="../media/image-12-2.png"/><Relationship Id="rId3" Type="http://schemas.openxmlformats.org/officeDocument/2006/relationships/image" Target="../media/image-12-3.png"/><Relationship Id="rId4" Type="http://schemas.openxmlformats.org/officeDocument/2006/relationships/image" Target="../media/image-12-4.png"/><Relationship Id="rId5" Type="http://schemas.openxmlformats.org/officeDocument/2006/relationships/slideLayout" Target="../slideLayouts/slideLayout1.xml"/><Relationship Id="rId6" Type="http://schemas.openxmlformats.org/officeDocument/2006/relationships/notesSlide" Target="../notesSlides/notesSlide12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3.xml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4.xml"/></Relationships>
</file>

<file path=ppt/slides/_rels/slide1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5.xml"/></Relationships>
</file>

<file path=ppt/slides/_rels/slide1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6.xml"/></Relationships>
</file>

<file path=ppt/slides/_rels/slide1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7.xml"/></Relationships>
</file>

<file path=ppt/slides/_rels/slide1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8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2E386E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7955280" y="-640080"/>
            <a:ext cx="2194560" cy="2194560"/>
          </a:xfrm>
          <a:prstGeom prst="ellipse">
            <a:avLst/>
          </a:prstGeom>
          <a:solidFill>
            <a:srgbClr val="5D6CDB">
              <a:alpha val="30000"/>
            </a:srgbClr>
          </a:solidFill>
          <a:ln/>
        </p:spPr>
      </p:sp>
      <p:sp>
        <p:nvSpPr>
          <p:cNvPr id="3" name="Shape 1"/>
          <p:cNvSpPr/>
          <p:nvPr/>
        </p:nvSpPr>
        <p:spPr>
          <a:xfrm>
            <a:off x="8686800" y="4023360"/>
            <a:ext cx="1554480" cy="1554480"/>
          </a:xfrm>
          <a:prstGeom prst="ellipse">
            <a:avLst/>
          </a:prstGeom>
          <a:solidFill>
            <a:srgbClr val="5D6CDB">
              <a:alpha val="20000"/>
            </a:srgbClr>
          </a:solidFill>
          <a:ln/>
        </p:spPr>
      </p:sp>
      <p:sp>
        <p:nvSpPr>
          <p:cNvPr id="4" name="Text 2"/>
          <p:cNvSpPr/>
          <p:nvPr/>
        </p:nvSpPr>
        <p:spPr>
          <a:xfrm>
            <a:off x="640080" y="914400"/>
            <a:ext cx="73152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spc="300" kern="0" dirty="0">
                <a:solidFill>
                  <a:srgbClr val="EAECFB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L'ATELIER DU QUIZ</a:t>
            </a:r>
            <a:endParaRPr lang="en-US" sz="1400" dirty="0"/>
          </a:p>
        </p:txBody>
      </p:sp>
      <p:sp>
        <p:nvSpPr>
          <p:cNvPr id="5" name="Text 3"/>
          <p:cNvSpPr/>
          <p:nvPr/>
        </p:nvSpPr>
        <p:spPr>
          <a:xfrm>
            <a:off x="640080" y="1371600"/>
            <a:ext cx="73152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4000" b="1" dirty="0">
                <a:solidFill>
                  <a:srgbClr val="F5B301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BONUS</a:t>
            </a:r>
            <a:endParaRPr lang="en-US" sz="4000" dirty="0"/>
          </a:p>
        </p:txBody>
      </p:sp>
      <p:sp>
        <p:nvSpPr>
          <p:cNvPr id="6" name="Text 4"/>
          <p:cNvSpPr/>
          <p:nvPr/>
        </p:nvSpPr>
        <p:spPr>
          <a:xfrm>
            <a:off x="640080" y="2103120"/>
            <a:ext cx="7955280" cy="1554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400" b="1" dirty="0">
                <a:solidFill>
                  <a:srgbClr val="FFFFFF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Exploiter les popquiz</a:t>
            </a:r>
            <a:endParaRPr lang="en-US" sz="3400" dirty="0"/>
          </a:p>
        </p:txBody>
      </p:sp>
      <p:sp>
        <p:nvSpPr>
          <p:cNvPr id="7" name="Text 5"/>
          <p:cNvSpPr/>
          <p:nvPr/>
        </p:nvSpPr>
        <p:spPr>
          <a:xfrm>
            <a:off x="658368" y="3703320"/>
            <a:ext cx="758952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700" i="1" dirty="0">
                <a:solidFill>
                  <a:srgbClr val="EAECFB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Capter au pic d'attention de tes vidéos.</a:t>
            </a:r>
            <a:endParaRPr lang="en-US" sz="17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40080" y="502920"/>
            <a:ext cx="786384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2E386E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Au programme aujourd'hui</a:t>
            </a:r>
            <a:endParaRPr lang="en-US" sz="3000" dirty="0"/>
          </a:p>
        </p:txBody>
      </p:sp>
      <p:sp>
        <p:nvSpPr>
          <p:cNvPr id="3" name="Shape 1"/>
          <p:cNvSpPr/>
          <p:nvPr/>
        </p:nvSpPr>
        <p:spPr>
          <a:xfrm>
            <a:off x="640080" y="1371600"/>
            <a:ext cx="7863840" cy="960120"/>
          </a:xfrm>
          <a:prstGeom prst="roundRect">
            <a:avLst>
              <a:gd name="adj" fmla="val 11429"/>
            </a:avLst>
          </a:prstGeom>
          <a:solidFill>
            <a:srgbClr val="EAECFB"/>
          </a:solidFill>
          <a:ln/>
        </p:spPr>
      </p:sp>
      <p:sp>
        <p:nvSpPr>
          <p:cNvPr id="4" name="Text 2"/>
          <p:cNvSpPr/>
          <p:nvPr/>
        </p:nvSpPr>
        <p:spPr>
          <a:xfrm>
            <a:off x="914400" y="1371600"/>
            <a:ext cx="7315200" cy="9601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5D6CDB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Objectif  </a:t>
            </a:r>
            <a:pPr indent="0" marL="0">
              <a:buNone/>
            </a:pPr>
            <a:r>
              <a:rPr lang="en-US" sz="1600" dirty="0">
                <a:solidFill>
                  <a:srgbClr val="2E386E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Utiliser le quiz incrusté dans une vidéo pour capter au moment où les gens sont le plus accrochés.</a:t>
            </a:r>
            <a:endParaRPr lang="en-US" sz="1600" dirty="0"/>
          </a:p>
        </p:txBody>
      </p:sp>
      <p:sp>
        <p:nvSpPr>
          <p:cNvPr id="5" name="Text 3"/>
          <p:cNvSpPr/>
          <p:nvPr/>
        </p:nvSpPr>
        <p:spPr>
          <a:xfrm>
            <a:off x="914400" y="2697480"/>
            <a:ext cx="7315200" cy="19202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203200" indent="-203200">
              <a:spcAft>
                <a:spcPts val="800"/>
              </a:spcAft>
              <a:buSzPct val="100000"/>
              <a:buChar char="•"/>
            </a:pPr>
            <a:r>
              <a:rPr lang="en-US" sz="1500" dirty="0">
                <a:solidFill>
                  <a:srgbClr val="2E386E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Le format que personne ne propose</a:t>
            </a:r>
            <a:endParaRPr lang="en-US" sz="1500" dirty="0"/>
          </a:p>
          <a:p>
            <a:pPr marL="203200" indent="-203200">
              <a:spcAft>
                <a:spcPts val="800"/>
              </a:spcAft>
              <a:buSzPct val="100000"/>
              <a:buChar char="•"/>
            </a:pPr>
            <a:r>
              <a:rPr lang="en-US" sz="1500" dirty="0">
                <a:solidFill>
                  <a:srgbClr val="2E386E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Les bases : cuepoints et embed</a:t>
            </a:r>
            <a:endParaRPr lang="en-US" sz="1500" dirty="0"/>
          </a:p>
          <a:p>
            <a:pPr marL="203200" indent="-203200">
              <a:spcAft>
                <a:spcPts val="800"/>
              </a:spcAft>
              <a:buSzPct val="100000"/>
              <a:buChar char="•"/>
            </a:pPr>
            <a:r>
              <a:rPr lang="en-US" sz="1500" dirty="0">
                <a:solidFill>
                  <a:srgbClr val="2E386E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Le popquiz cliffhanger</a:t>
            </a:r>
            <a:endParaRPr lang="en-US" sz="1500" dirty="0"/>
          </a:p>
          <a:p>
            <a:pPr marL="203200" indent="-203200">
              <a:spcAft>
                <a:spcPts val="800"/>
              </a:spcAft>
              <a:buSzPct val="100000"/>
              <a:buChar char="•"/>
            </a:pPr>
            <a:r>
              <a:rPr lang="en-US" sz="1500" dirty="0">
                <a:solidFill>
                  <a:srgbClr val="2E386E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Le popquiz qui remplace un webinaire</a:t>
            </a:r>
            <a:endParaRPr lang="en-US" sz="1500" dirty="0"/>
          </a:p>
        </p:txBody>
      </p:sp>
      <p:sp>
        <p:nvSpPr>
          <p:cNvPr id="6" name="Text 4"/>
          <p:cNvSpPr/>
          <p:nvPr/>
        </p:nvSpPr>
        <p:spPr>
          <a:xfrm>
            <a:off x="457200" y="4759452"/>
            <a:ext cx="6400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b="1" dirty="0">
                <a:solidFill>
                  <a:srgbClr val="6B73A0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L'Atelier du Quiz</a:t>
            </a:r>
            <a:pPr indent="0" marL="0">
              <a:buNone/>
            </a:pPr>
            <a:r>
              <a:rPr lang="en-US" sz="900" dirty="0">
                <a:solidFill>
                  <a:srgbClr val="6B73A0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   ·   Bonus</a:t>
            </a:r>
            <a:endParaRPr lang="en-US" sz="9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40080" y="548640"/>
            <a:ext cx="786384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2E386E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Et si ton quiz vivait DANS ta vidéo ?</a:t>
            </a:r>
            <a:endParaRPr lang="en-US" sz="2800" dirty="0"/>
          </a:p>
        </p:txBody>
      </p:sp>
      <p:sp>
        <p:nvSpPr>
          <p:cNvPr id="3" name="Text 1"/>
          <p:cNvSpPr/>
          <p:nvPr/>
        </p:nvSpPr>
        <p:spPr>
          <a:xfrm>
            <a:off x="640080" y="1737360"/>
            <a:ext cx="7863840" cy="2743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10000"/>
              </a:lnSpc>
              <a:spcAft>
                <a:spcPts val="1400"/>
              </a:spcAft>
              <a:buNone/>
            </a:pPr>
            <a:r>
              <a:rPr lang="en-US" sz="1800" dirty="0">
                <a:solidFill>
                  <a:srgbClr val="2E386E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Le popquiz, c'est un quiz incrusté directement dans une vidéo. Un format que presque personne ne propose.</a:t>
            </a:r>
            <a:endParaRPr lang="en-US" sz="1800" dirty="0"/>
          </a:p>
          <a:p>
            <a:pPr indent="0" marL="0">
              <a:lnSpc>
                <a:spcPct val="110000"/>
              </a:lnSpc>
              <a:spcAft>
                <a:spcPts val="1400"/>
              </a:spcAft>
              <a:buNone/>
            </a:pPr>
            <a:r>
              <a:rPr lang="en-US" sz="1800" dirty="0">
                <a:solidFill>
                  <a:srgbClr val="2E386E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Au lieu d'envoyer les gens vers un quiz à côté, tu captures pile au moment où ils sont scotchés à ta vidéo.</a:t>
            </a:r>
            <a:endParaRPr lang="en-US" sz="1800" dirty="0"/>
          </a:p>
          <a:p>
            <a:pPr indent="0" marL="0">
              <a:lnSpc>
                <a:spcPct val="110000"/>
              </a:lnSpc>
              <a:spcAft>
                <a:spcPts val="1400"/>
              </a:spcAft>
              <a:buNone/>
            </a:pPr>
            <a:r>
              <a:rPr lang="en-US" sz="1800" dirty="0">
                <a:solidFill>
                  <a:srgbClr val="2E386E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Deux usages peuvent te faire gagner des heures : le cliffhanger, et le webinaire automatique. On voit les deux.</a:t>
            </a:r>
            <a:endParaRPr lang="en-US" sz="1800" dirty="0"/>
          </a:p>
        </p:txBody>
      </p:sp>
      <p:sp>
        <p:nvSpPr>
          <p:cNvPr id="4" name="Text 2"/>
          <p:cNvSpPr/>
          <p:nvPr/>
        </p:nvSpPr>
        <p:spPr>
          <a:xfrm>
            <a:off x="457200" y="4759452"/>
            <a:ext cx="6400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b="1" dirty="0">
                <a:solidFill>
                  <a:srgbClr val="6B73A0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L'Atelier du Quiz</a:t>
            </a:r>
            <a:pPr indent="0" marL="0">
              <a:buNone/>
            </a:pPr>
            <a:r>
              <a:rPr lang="en-US" sz="900" dirty="0">
                <a:solidFill>
                  <a:srgbClr val="6B73A0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   ·   Bonus</a:t>
            </a:r>
            <a:endParaRPr lang="en-US" sz="9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40080" y="548640"/>
            <a:ext cx="786384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2E386E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Un popquiz, c'est quoi exactement ?</a:t>
            </a:r>
            <a:endParaRPr lang="en-US" sz="2800" dirty="0"/>
          </a:p>
        </p:txBody>
      </p:sp>
      <p:sp>
        <p:nvSpPr>
          <p:cNvPr id="3" name="Text 1"/>
          <p:cNvSpPr/>
          <p:nvPr/>
        </p:nvSpPr>
        <p:spPr>
          <a:xfrm>
            <a:off x="640080" y="1737360"/>
            <a:ext cx="7863840" cy="2743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10000"/>
              </a:lnSpc>
              <a:spcAft>
                <a:spcPts val="1400"/>
              </a:spcAft>
              <a:buNone/>
            </a:pPr>
            <a:r>
              <a:rPr lang="en-US" sz="1800" dirty="0">
                <a:solidFill>
                  <a:srgbClr val="2E386E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C'est un point d'arrêt (un « cuepoint ») placé dans ta vidéo : à un moment choisi, un quiz apparaît par-dessus l'image.</a:t>
            </a:r>
            <a:endParaRPr lang="en-US" sz="1800" dirty="0"/>
          </a:p>
          <a:p>
            <a:pPr indent="0" marL="0">
              <a:lnSpc>
                <a:spcPct val="110000"/>
              </a:lnSpc>
              <a:spcAft>
                <a:spcPts val="1400"/>
              </a:spcAft>
              <a:buNone/>
            </a:pPr>
            <a:r>
              <a:rPr lang="en-US" sz="1800" dirty="0">
                <a:solidFill>
                  <a:srgbClr val="2E386E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Tu peux en mettre plusieurs sur une même vidéo, et choisir s'ils sont bloquants (on doit répondre pour continuer) ou optionnels.</a:t>
            </a:r>
            <a:endParaRPr lang="en-US" sz="1800" dirty="0"/>
          </a:p>
          <a:p>
            <a:pPr indent="0" marL="0">
              <a:lnSpc>
                <a:spcPct val="110000"/>
              </a:lnSpc>
              <a:spcAft>
                <a:spcPts val="1400"/>
              </a:spcAft>
              <a:buNone/>
            </a:pPr>
            <a:r>
              <a:rPr lang="en-US" sz="1800" dirty="0">
                <a:solidFill>
                  <a:srgbClr val="2E386E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Et tu peux l'embarquer (l'embed) sur n'importe quel site ou page. La vidéo et le quiz voyagent ensemble.</a:t>
            </a:r>
            <a:endParaRPr lang="en-US" sz="1800" dirty="0"/>
          </a:p>
        </p:txBody>
      </p:sp>
      <p:sp>
        <p:nvSpPr>
          <p:cNvPr id="4" name="Text 2"/>
          <p:cNvSpPr/>
          <p:nvPr/>
        </p:nvSpPr>
        <p:spPr>
          <a:xfrm>
            <a:off x="457200" y="4759452"/>
            <a:ext cx="6400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b="1" dirty="0">
                <a:solidFill>
                  <a:srgbClr val="6B73A0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L'Atelier du Quiz</a:t>
            </a:r>
            <a:pPr indent="0" marL="0">
              <a:buNone/>
            </a:pPr>
            <a:r>
              <a:rPr lang="en-US" sz="900" dirty="0">
                <a:solidFill>
                  <a:srgbClr val="6B73A0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   ·   Bonus</a:t>
            </a:r>
            <a:endParaRPr lang="en-US" sz="9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40080" y="502920"/>
            <a:ext cx="786384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700" b="1" dirty="0">
                <a:solidFill>
                  <a:srgbClr val="2E386E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Le popquiz cliffhanger : capte au pic de tension</a:t>
            </a:r>
            <a:endParaRPr lang="en-US" sz="2700" dirty="0"/>
          </a:p>
        </p:txBody>
      </p:sp>
      <p:sp>
        <p:nvSpPr>
          <p:cNvPr id="3" name="Text 1"/>
          <p:cNvSpPr/>
          <p:nvPr/>
        </p:nvSpPr>
        <p:spPr>
          <a:xfrm>
            <a:off x="640080" y="1691640"/>
            <a:ext cx="7863840" cy="2926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08000"/>
              </a:lnSpc>
              <a:spcAft>
                <a:spcPts val="1200"/>
              </a:spcAft>
              <a:buNone/>
            </a:pPr>
            <a:r>
              <a:rPr lang="en-US" sz="1650" dirty="0">
                <a:solidFill>
                  <a:srgbClr val="2E386E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Tu places un quiz bloquant juste avant la révélation clé de ta vidéo, le moment que tout le monde attend.</a:t>
            </a:r>
            <a:endParaRPr lang="en-US" sz="1650" dirty="0"/>
          </a:p>
          <a:p>
            <a:pPr indent="0" marL="0">
              <a:lnSpc>
                <a:spcPct val="108000"/>
              </a:lnSpc>
              <a:spcAft>
                <a:spcPts val="1200"/>
              </a:spcAft>
              <a:buNone/>
            </a:pPr>
            <a:r>
              <a:rPr lang="en-US" sz="1650" dirty="0">
                <a:solidFill>
                  <a:srgbClr val="2E386E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Pour avoir la suite, le spectateur doit répondre, donc laisser son email. Tu captures au pic exact d'attention.</a:t>
            </a:r>
            <a:endParaRPr lang="en-US" sz="1650" dirty="0"/>
          </a:p>
          <a:p>
            <a:pPr indent="0" marL="0">
              <a:lnSpc>
                <a:spcPct val="108000"/>
              </a:lnSpc>
              <a:spcAft>
                <a:spcPts val="1200"/>
              </a:spcAft>
              <a:buNone/>
            </a:pPr>
            <a:r>
              <a:rPr lang="en-US" sz="1650" dirty="0">
                <a:solidFill>
                  <a:srgbClr val="2E386E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C'est le moment où l'envie de savoir est la plus forte : le taux de capture explose, parce qu'on ne s'arrête pas si près du but.</a:t>
            </a:r>
            <a:endParaRPr lang="en-US" sz="1650" dirty="0"/>
          </a:p>
        </p:txBody>
      </p:sp>
      <p:sp>
        <p:nvSpPr>
          <p:cNvPr id="4" name="Text 2"/>
          <p:cNvSpPr/>
          <p:nvPr/>
        </p:nvSpPr>
        <p:spPr>
          <a:xfrm>
            <a:off x="457200" y="4759452"/>
            <a:ext cx="6400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b="1" dirty="0">
                <a:solidFill>
                  <a:srgbClr val="6B73A0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L'Atelier du Quiz</a:t>
            </a:r>
            <a:pPr indent="0" marL="0">
              <a:buNone/>
            </a:pPr>
            <a:r>
              <a:rPr lang="en-US" sz="900" dirty="0">
                <a:solidFill>
                  <a:srgbClr val="6B73A0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   ·   Bonus</a:t>
            </a:r>
            <a:endParaRPr lang="en-US" sz="90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40080" y="502920"/>
            <a:ext cx="786384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700" b="1" dirty="0">
                <a:solidFill>
                  <a:srgbClr val="2E386E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Le popquiz qui remplace un webinaire</a:t>
            </a:r>
            <a:endParaRPr lang="en-US" sz="2700" dirty="0"/>
          </a:p>
        </p:txBody>
      </p:sp>
      <p:sp>
        <p:nvSpPr>
          <p:cNvPr id="3" name="Text 1"/>
          <p:cNvSpPr/>
          <p:nvPr/>
        </p:nvSpPr>
        <p:spPr>
          <a:xfrm>
            <a:off x="640080" y="1691640"/>
            <a:ext cx="7863840" cy="2926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08000"/>
              </a:lnSpc>
              <a:spcAft>
                <a:spcPts val="1200"/>
              </a:spcAft>
              <a:buNone/>
            </a:pPr>
            <a:r>
              <a:rPr lang="en-US" sz="1650" dirty="0">
                <a:solidFill>
                  <a:srgbClr val="2E386E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Prends ta meilleure vidéo de valeur, celle qui convainc le plus, et incruste ton quiz à son moment fort.</a:t>
            </a:r>
            <a:endParaRPr lang="en-US" sz="1650" dirty="0"/>
          </a:p>
          <a:p>
            <a:pPr indent="0" marL="0">
              <a:lnSpc>
                <a:spcPct val="108000"/>
              </a:lnSpc>
              <a:spcAft>
                <a:spcPts val="1200"/>
              </a:spcAft>
              <a:buNone/>
            </a:pPr>
            <a:r>
              <a:rPr lang="en-US" sz="1650" dirty="0">
                <a:solidFill>
                  <a:srgbClr val="2E386E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Tu obtiens l'effet d'un webinaire (du contenu qui capture et qui vend), mais sans live, 24h/24, en automatique.</a:t>
            </a:r>
            <a:endParaRPr lang="en-US" sz="1650" dirty="0"/>
          </a:p>
          <a:p>
            <a:pPr indent="0" marL="0">
              <a:lnSpc>
                <a:spcPct val="108000"/>
              </a:lnSpc>
              <a:spcAft>
                <a:spcPts val="1200"/>
              </a:spcAft>
              <a:buNone/>
            </a:pPr>
            <a:r>
              <a:rPr lang="en-US" sz="1650" dirty="0">
                <a:solidFill>
                  <a:srgbClr val="2E386E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Et la présence est de 100% : comme c'est asynchrone, personne ne « rate » la session. Chacun la vit à fond, quand il veut.</a:t>
            </a:r>
            <a:endParaRPr lang="en-US" sz="1650" dirty="0"/>
          </a:p>
        </p:txBody>
      </p:sp>
      <p:sp>
        <p:nvSpPr>
          <p:cNvPr id="4" name="Text 2"/>
          <p:cNvSpPr/>
          <p:nvPr/>
        </p:nvSpPr>
        <p:spPr>
          <a:xfrm>
            <a:off x="457200" y="4759452"/>
            <a:ext cx="6400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b="1" dirty="0">
                <a:solidFill>
                  <a:srgbClr val="6B73A0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L'Atelier du Quiz</a:t>
            </a:r>
            <a:pPr indent="0" marL="0">
              <a:buNone/>
            </a:pPr>
            <a:r>
              <a:rPr lang="en-US" sz="900" dirty="0">
                <a:solidFill>
                  <a:srgbClr val="6B73A0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   ·   Bonus</a:t>
            </a:r>
            <a:endParaRPr lang="en-US" sz="90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5D6CDB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-822960" y="3108960"/>
            <a:ext cx="2560320" cy="2560320"/>
          </a:xfrm>
          <a:prstGeom prst="ellipse">
            <a:avLst/>
          </a:prstGeom>
          <a:solidFill>
            <a:srgbClr val="FFFFFF">
              <a:alpha val="12000"/>
            </a:srgbClr>
          </a:solidFill>
          <a:ln/>
        </p:spPr>
      </p:sp>
      <p:sp>
        <p:nvSpPr>
          <p:cNvPr id="3" name="Text 1"/>
          <p:cNvSpPr/>
          <p:nvPr/>
        </p:nvSpPr>
        <p:spPr>
          <a:xfrm>
            <a:off x="640080" y="960120"/>
            <a:ext cx="78638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spc="300" kern="0" dirty="0">
                <a:solidFill>
                  <a:srgbClr val="EAECFB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LA PREUVE</a:t>
            </a:r>
            <a:endParaRPr lang="en-US" sz="1400" dirty="0"/>
          </a:p>
        </p:txBody>
      </p:sp>
      <p:sp>
        <p:nvSpPr>
          <p:cNvPr id="4" name="Text 2"/>
          <p:cNvSpPr/>
          <p:nvPr/>
        </p:nvSpPr>
        <p:spPr>
          <a:xfrm>
            <a:off x="640080" y="1371600"/>
            <a:ext cx="7863840" cy="11887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6400" b="1" dirty="0">
                <a:solidFill>
                  <a:srgbClr val="FFFFFF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100 %</a:t>
            </a:r>
            <a:endParaRPr lang="en-US" sz="6400" dirty="0"/>
          </a:p>
        </p:txBody>
      </p:sp>
      <p:sp>
        <p:nvSpPr>
          <p:cNvPr id="5" name="Text 3"/>
          <p:cNvSpPr/>
          <p:nvPr/>
        </p:nvSpPr>
        <p:spPr>
          <a:xfrm>
            <a:off x="658368" y="2697480"/>
            <a:ext cx="7680960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05000"/>
              </a:lnSpc>
              <a:buNone/>
            </a:pPr>
            <a:r>
              <a:rPr lang="en-US" sz="2000" dirty="0">
                <a:solidFill>
                  <a:srgbClr val="FFFFFF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de présence à ton « webinaire » popquiz : comme c'est asynchrone, personne ne le rate, là où un live perd souvent plus de la moitié des inscrits.</a:t>
            </a:r>
            <a:endParaRPr lang="en-US" sz="2000" dirty="0"/>
          </a:p>
        </p:txBody>
      </p:sp>
      <p:sp>
        <p:nvSpPr>
          <p:cNvPr id="6" name="Text 4"/>
          <p:cNvSpPr/>
          <p:nvPr/>
        </p:nvSpPr>
        <p:spPr>
          <a:xfrm>
            <a:off x="658368" y="3886200"/>
            <a:ext cx="76809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i="1" dirty="0">
                <a:solidFill>
                  <a:srgbClr val="EAECFB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Constat : présence des webinaires live souvent sous 50%</a:t>
            </a:r>
            <a:endParaRPr lang="en-US" sz="120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40080" y="457200"/>
            <a:ext cx="786384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2E386E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Les 4 réflexes popquiz</a:t>
            </a:r>
            <a:endParaRPr lang="en-US" sz="3000" dirty="0"/>
          </a:p>
        </p:txBody>
      </p:sp>
      <p:sp>
        <p:nvSpPr>
          <p:cNvPr id="3" name="Shape 1"/>
          <p:cNvSpPr/>
          <p:nvPr/>
        </p:nvSpPr>
        <p:spPr>
          <a:xfrm>
            <a:off x="640080" y="1534478"/>
            <a:ext cx="457200" cy="457200"/>
          </a:xfrm>
          <a:prstGeom prst="ellipse">
            <a:avLst/>
          </a:prstGeom>
          <a:solidFill>
            <a:srgbClr val="5D6CDB"/>
          </a:solidFill>
          <a:ln/>
        </p:spPr>
      </p:sp>
      <p:sp>
        <p:nvSpPr>
          <p:cNvPr id="4" name="Text 2"/>
          <p:cNvSpPr/>
          <p:nvPr/>
        </p:nvSpPr>
        <p:spPr>
          <a:xfrm>
            <a:off x="640080" y="1534478"/>
            <a:ext cx="457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1</a:t>
            </a:r>
            <a:endParaRPr lang="en-US" sz="1600" dirty="0"/>
          </a:p>
        </p:txBody>
      </p:sp>
      <p:sp>
        <p:nvSpPr>
          <p:cNvPr id="5" name="Text 3"/>
          <p:cNvSpPr/>
          <p:nvPr/>
        </p:nvSpPr>
        <p:spPr>
          <a:xfrm>
            <a:off x="1280160" y="1371600"/>
            <a:ext cx="7223760" cy="782955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dirty="0">
                <a:solidFill>
                  <a:srgbClr val="2E386E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Le popquiz, c'est un quiz incrusté dans une vidéo : un format rare.</a:t>
            </a:r>
            <a:endParaRPr lang="en-US" sz="1600" dirty="0"/>
          </a:p>
        </p:txBody>
      </p:sp>
      <p:sp>
        <p:nvSpPr>
          <p:cNvPr id="6" name="Shape 4"/>
          <p:cNvSpPr/>
          <p:nvPr/>
        </p:nvSpPr>
        <p:spPr>
          <a:xfrm>
            <a:off x="640080" y="2317433"/>
            <a:ext cx="457200" cy="457200"/>
          </a:xfrm>
          <a:prstGeom prst="ellipse">
            <a:avLst/>
          </a:prstGeom>
          <a:solidFill>
            <a:srgbClr val="5D6CDB"/>
          </a:solidFill>
          <a:ln/>
        </p:spPr>
      </p:sp>
      <p:sp>
        <p:nvSpPr>
          <p:cNvPr id="7" name="Text 5"/>
          <p:cNvSpPr/>
          <p:nvPr/>
        </p:nvSpPr>
        <p:spPr>
          <a:xfrm>
            <a:off x="640080" y="2317433"/>
            <a:ext cx="457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2</a:t>
            </a:r>
            <a:endParaRPr lang="en-US" sz="1600" dirty="0"/>
          </a:p>
        </p:txBody>
      </p:sp>
      <p:sp>
        <p:nvSpPr>
          <p:cNvPr id="8" name="Text 6"/>
          <p:cNvSpPr/>
          <p:nvPr/>
        </p:nvSpPr>
        <p:spPr>
          <a:xfrm>
            <a:off x="1280160" y="2154555"/>
            <a:ext cx="7223760" cy="782955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dirty="0">
                <a:solidFill>
                  <a:srgbClr val="2E386E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Tu peux placer plusieurs cuepoints, bloquants ou optionnels.</a:t>
            </a:r>
            <a:endParaRPr lang="en-US" sz="1600" dirty="0"/>
          </a:p>
        </p:txBody>
      </p:sp>
      <p:sp>
        <p:nvSpPr>
          <p:cNvPr id="9" name="Shape 7"/>
          <p:cNvSpPr/>
          <p:nvPr/>
        </p:nvSpPr>
        <p:spPr>
          <a:xfrm>
            <a:off x="640080" y="3100388"/>
            <a:ext cx="457200" cy="457200"/>
          </a:xfrm>
          <a:prstGeom prst="ellipse">
            <a:avLst/>
          </a:prstGeom>
          <a:solidFill>
            <a:srgbClr val="5D6CDB"/>
          </a:solidFill>
          <a:ln/>
        </p:spPr>
      </p:sp>
      <p:sp>
        <p:nvSpPr>
          <p:cNvPr id="10" name="Text 8"/>
          <p:cNvSpPr/>
          <p:nvPr/>
        </p:nvSpPr>
        <p:spPr>
          <a:xfrm>
            <a:off x="640080" y="3100388"/>
            <a:ext cx="457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3</a:t>
            </a:r>
            <a:endParaRPr lang="en-US" sz="1600" dirty="0"/>
          </a:p>
        </p:txBody>
      </p:sp>
      <p:sp>
        <p:nvSpPr>
          <p:cNvPr id="11" name="Text 9"/>
          <p:cNvSpPr/>
          <p:nvPr/>
        </p:nvSpPr>
        <p:spPr>
          <a:xfrm>
            <a:off x="1280160" y="2937510"/>
            <a:ext cx="7223760" cy="782955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dirty="0">
                <a:solidFill>
                  <a:srgbClr val="2E386E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Le cliffhanger capture au pic d'attention, avant la révélation.</a:t>
            </a:r>
            <a:endParaRPr lang="en-US" sz="1600" dirty="0"/>
          </a:p>
        </p:txBody>
      </p:sp>
      <p:sp>
        <p:nvSpPr>
          <p:cNvPr id="12" name="Shape 10"/>
          <p:cNvSpPr/>
          <p:nvPr/>
        </p:nvSpPr>
        <p:spPr>
          <a:xfrm>
            <a:off x="640080" y="3883342"/>
            <a:ext cx="457200" cy="457200"/>
          </a:xfrm>
          <a:prstGeom prst="ellipse">
            <a:avLst/>
          </a:prstGeom>
          <a:solidFill>
            <a:srgbClr val="5D6CDB"/>
          </a:solidFill>
          <a:ln/>
        </p:spPr>
      </p:sp>
      <p:sp>
        <p:nvSpPr>
          <p:cNvPr id="13" name="Text 11"/>
          <p:cNvSpPr/>
          <p:nvPr/>
        </p:nvSpPr>
        <p:spPr>
          <a:xfrm>
            <a:off x="640080" y="3883342"/>
            <a:ext cx="457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4</a:t>
            </a:r>
            <a:endParaRPr lang="en-US" sz="1600" dirty="0"/>
          </a:p>
        </p:txBody>
      </p:sp>
      <p:sp>
        <p:nvSpPr>
          <p:cNvPr id="14" name="Text 12"/>
          <p:cNvSpPr/>
          <p:nvPr/>
        </p:nvSpPr>
        <p:spPr>
          <a:xfrm>
            <a:off x="1280160" y="3720465"/>
            <a:ext cx="7223760" cy="782955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dirty="0">
                <a:solidFill>
                  <a:srgbClr val="2E386E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Une vidéo de valeur + popquiz = un webinaire automatique, 24h/24.</a:t>
            </a:r>
            <a:endParaRPr lang="en-US" sz="1600" dirty="0"/>
          </a:p>
        </p:txBody>
      </p:sp>
      <p:sp>
        <p:nvSpPr>
          <p:cNvPr id="15" name="Text 13"/>
          <p:cNvSpPr/>
          <p:nvPr/>
        </p:nvSpPr>
        <p:spPr>
          <a:xfrm>
            <a:off x="457200" y="4759452"/>
            <a:ext cx="6400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b="1" dirty="0">
                <a:solidFill>
                  <a:srgbClr val="6B73A0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L'Atelier du Quiz</a:t>
            </a:r>
            <a:pPr indent="0" marL="0">
              <a:buNone/>
            </a:pPr>
            <a:r>
              <a:rPr lang="en-US" sz="900" dirty="0">
                <a:solidFill>
                  <a:srgbClr val="6B73A0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   ·   Bonus</a:t>
            </a:r>
            <a:endParaRPr lang="en-US" sz="900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40080" y="502920"/>
            <a:ext cx="786384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2E386E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Le popquiz cliffhanger</a:t>
            </a:r>
            <a:endParaRPr lang="en-US" sz="2600" dirty="0"/>
          </a:p>
        </p:txBody>
      </p:sp>
      <p:sp>
        <p:nvSpPr>
          <p:cNvPr id="3" name="Shape 1"/>
          <p:cNvSpPr/>
          <p:nvPr/>
        </p:nvSpPr>
        <p:spPr>
          <a:xfrm>
            <a:off x="640080" y="2240280"/>
            <a:ext cx="1207008" cy="960120"/>
          </a:xfrm>
          <a:prstGeom prst="roundRect">
            <a:avLst>
              <a:gd name="adj" fmla="val 9524"/>
            </a:avLst>
          </a:prstGeom>
          <a:solidFill>
            <a:srgbClr val="EAECFB"/>
          </a:solidFill>
          <a:ln/>
        </p:spPr>
      </p:sp>
      <p:sp>
        <p:nvSpPr>
          <p:cNvPr id="4" name="Text 2"/>
          <p:cNvSpPr/>
          <p:nvPr/>
        </p:nvSpPr>
        <p:spPr>
          <a:xfrm>
            <a:off x="685800" y="2240280"/>
            <a:ext cx="1115568" cy="9601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50" b="1" dirty="0">
                <a:solidFill>
                  <a:srgbClr val="2E386E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La vidéo monte en tension</a:t>
            </a:r>
            <a:endParaRPr lang="en-US" sz="1350" dirty="0"/>
          </a:p>
        </p:txBody>
      </p:sp>
      <p:sp>
        <p:nvSpPr>
          <p:cNvPr id="5" name="Text 3"/>
          <p:cNvSpPr/>
          <p:nvPr/>
        </p:nvSpPr>
        <p:spPr>
          <a:xfrm>
            <a:off x="1847088" y="2240280"/>
            <a:ext cx="457200" cy="9601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600" b="1" dirty="0">
                <a:solidFill>
                  <a:srgbClr val="F5B301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→</a:t>
            </a:r>
            <a:endParaRPr lang="en-US" sz="2600" dirty="0"/>
          </a:p>
        </p:txBody>
      </p:sp>
      <p:sp>
        <p:nvSpPr>
          <p:cNvPr id="6" name="Shape 4"/>
          <p:cNvSpPr/>
          <p:nvPr/>
        </p:nvSpPr>
        <p:spPr>
          <a:xfrm>
            <a:off x="2304288" y="2240280"/>
            <a:ext cx="1207008" cy="960120"/>
          </a:xfrm>
          <a:prstGeom prst="roundRect">
            <a:avLst>
              <a:gd name="adj" fmla="val 9524"/>
            </a:avLst>
          </a:prstGeom>
          <a:solidFill>
            <a:srgbClr val="EAECFB"/>
          </a:solidFill>
          <a:ln/>
        </p:spPr>
      </p:sp>
      <p:sp>
        <p:nvSpPr>
          <p:cNvPr id="7" name="Text 5"/>
          <p:cNvSpPr/>
          <p:nvPr/>
        </p:nvSpPr>
        <p:spPr>
          <a:xfrm>
            <a:off x="2350008" y="2240280"/>
            <a:ext cx="1115568" cy="9601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50" b="1" dirty="0">
                <a:solidFill>
                  <a:srgbClr val="2E386E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Juste avant la révélation</a:t>
            </a:r>
            <a:endParaRPr lang="en-US" sz="1350" dirty="0"/>
          </a:p>
        </p:txBody>
      </p:sp>
      <p:sp>
        <p:nvSpPr>
          <p:cNvPr id="8" name="Text 6"/>
          <p:cNvSpPr/>
          <p:nvPr/>
        </p:nvSpPr>
        <p:spPr>
          <a:xfrm>
            <a:off x="3511296" y="2240280"/>
            <a:ext cx="457200" cy="9601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600" b="1" dirty="0">
                <a:solidFill>
                  <a:srgbClr val="F5B301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→</a:t>
            </a:r>
            <a:endParaRPr lang="en-US" sz="2600" dirty="0"/>
          </a:p>
        </p:txBody>
      </p:sp>
      <p:sp>
        <p:nvSpPr>
          <p:cNvPr id="9" name="Shape 7"/>
          <p:cNvSpPr/>
          <p:nvPr/>
        </p:nvSpPr>
        <p:spPr>
          <a:xfrm>
            <a:off x="3968496" y="2240280"/>
            <a:ext cx="1207008" cy="960120"/>
          </a:xfrm>
          <a:prstGeom prst="roundRect">
            <a:avLst>
              <a:gd name="adj" fmla="val 9524"/>
            </a:avLst>
          </a:prstGeom>
          <a:solidFill>
            <a:srgbClr val="EAECFB"/>
          </a:solidFill>
          <a:ln/>
        </p:spPr>
      </p:sp>
      <p:sp>
        <p:nvSpPr>
          <p:cNvPr id="10" name="Text 8"/>
          <p:cNvSpPr/>
          <p:nvPr/>
        </p:nvSpPr>
        <p:spPr>
          <a:xfrm>
            <a:off x="4014216" y="2240280"/>
            <a:ext cx="1115568" cy="9601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50" b="1" dirty="0">
                <a:solidFill>
                  <a:srgbClr val="2E386E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Le quiz bloquant apparaît</a:t>
            </a:r>
            <a:endParaRPr lang="en-US" sz="1350" dirty="0"/>
          </a:p>
        </p:txBody>
      </p:sp>
      <p:sp>
        <p:nvSpPr>
          <p:cNvPr id="11" name="Text 9"/>
          <p:cNvSpPr/>
          <p:nvPr/>
        </p:nvSpPr>
        <p:spPr>
          <a:xfrm>
            <a:off x="5175504" y="2240280"/>
            <a:ext cx="457200" cy="9601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600" b="1" dirty="0">
                <a:solidFill>
                  <a:srgbClr val="F5B301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→</a:t>
            </a:r>
            <a:endParaRPr lang="en-US" sz="2600" dirty="0"/>
          </a:p>
        </p:txBody>
      </p:sp>
      <p:sp>
        <p:nvSpPr>
          <p:cNvPr id="12" name="Shape 10"/>
          <p:cNvSpPr/>
          <p:nvPr/>
        </p:nvSpPr>
        <p:spPr>
          <a:xfrm>
            <a:off x="5632704" y="2240280"/>
            <a:ext cx="1207008" cy="960120"/>
          </a:xfrm>
          <a:prstGeom prst="roundRect">
            <a:avLst>
              <a:gd name="adj" fmla="val 9524"/>
            </a:avLst>
          </a:prstGeom>
          <a:solidFill>
            <a:srgbClr val="EAECFB"/>
          </a:solidFill>
          <a:ln/>
        </p:spPr>
      </p:sp>
      <p:sp>
        <p:nvSpPr>
          <p:cNvPr id="13" name="Text 11"/>
          <p:cNvSpPr/>
          <p:nvPr/>
        </p:nvSpPr>
        <p:spPr>
          <a:xfrm>
            <a:off x="5678424" y="2240280"/>
            <a:ext cx="1115568" cy="9601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50" b="1" dirty="0">
                <a:solidFill>
                  <a:srgbClr val="2E386E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La personne laisse son mail</a:t>
            </a:r>
            <a:endParaRPr lang="en-US" sz="1350" dirty="0"/>
          </a:p>
        </p:txBody>
      </p:sp>
      <p:sp>
        <p:nvSpPr>
          <p:cNvPr id="14" name="Text 12"/>
          <p:cNvSpPr/>
          <p:nvPr/>
        </p:nvSpPr>
        <p:spPr>
          <a:xfrm>
            <a:off x="6839712" y="2240280"/>
            <a:ext cx="457200" cy="9601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600" b="1" dirty="0">
                <a:solidFill>
                  <a:srgbClr val="F5B301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→</a:t>
            </a:r>
            <a:endParaRPr lang="en-US" sz="2600" dirty="0"/>
          </a:p>
        </p:txBody>
      </p:sp>
      <p:sp>
        <p:nvSpPr>
          <p:cNvPr id="15" name="Shape 13"/>
          <p:cNvSpPr/>
          <p:nvPr/>
        </p:nvSpPr>
        <p:spPr>
          <a:xfrm>
            <a:off x="7296912" y="2240280"/>
            <a:ext cx="1207008" cy="960120"/>
          </a:xfrm>
          <a:prstGeom prst="roundRect">
            <a:avLst>
              <a:gd name="adj" fmla="val 9524"/>
            </a:avLst>
          </a:prstGeom>
          <a:solidFill>
            <a:srgbClr val="EAECFB"/>
          </a:solidFill>
          <a:ln/>
        </p:spPr>
      </p:sp>
      <p:sp>
        <p:nvSpPr>
          <p:cNvPr id="16" name="Text 14"/>
          <p:cNvSpPr/>
          <p:nvPr/>
        </p:nvSpPr>
        <p:spPr>
          <a:xfrm>
            <a:off x="7342632" y="2240280"/>
            <a:ext cx="1115568" cy="9601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50" b="1" dirty="0">
                <a:solidFill>
                  <a:srgbClr val="2E386E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Elle a la suite, tu as le lead</a:t>
            </a:r>
            <a:endParaRPr lang="en-US" sz="1350" dirty="0"/>
          </a:p>
        </p:txBody>
      </p:sp>
      <p:sp>
        <p:nvSpPr>
          <p:cNvPr id="17" name="Text 15"/>
          <p:cNvSpPr/>
          <p:nvPr/>
        </p:nvSpPr>
        <p:spPr>
          <a:xfrm>
            <a:off x="640080" y="3566160"/>
            <a:ext cx="78638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00" i="1" dirty="0">
                <a:solidFill>
                  <a:srgbClr val="6B73A0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Tu captures pile quand l'envie de savoir est au maximum.</a:t>
            </a:r>
            <a:endParaRPr lang="en-US" sz="1500" dirty="0"/>
          </a:p>
        </p:txBody>
      </p:sp>
      <p:sp>
        <p:nvSpPr>
          <p:cNvPr id="18" name="Text 16"/>
          <p:cNvSpPr/>
          <p:nvPr/>
        </p:nvSpPr>
        <p:spPr>
          <a:xfrm>
            <a:off x="457200" y="4759452"/>
            <a:ext cx="6400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b="1" dirty="0">
                <a:solidFill>
                  <a:srgbClr val="6B73A0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L'Atelier du Quiz</a:t>
            </a:r>
            <a:pPr indent="0" marL="0">
              <a:buNone/>
            </a:pPr>
            <a:r>
              <a:rPr lang="en-US" sz="900" dirty="0">
                <a:solidFill>
                  <a:srgbClr val="6B73A0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   ·   Bonus</a:t>
            </a:r>
            <a:endParaRPr lang="en-US" sz="900" dirty="0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bg>
      <p:bgPr>
        <a:solidFill>
          <a:srgbClr val="F4F5F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40080" y="365760"/>
            <a:ext cx="73152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spc="200" kern="0" dirty="0">
                <a:solidFill>
                  <a:srgbClr val="F5B301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GROWTH HACK   1/2</a:t>
            </a:r>
            <a:endParaRPr lang="en-US" sz="1200" dirty="0"/>
          </a:p>
        </p:txBody>
      </p:sp>
      <p:sp>
        <p:nvSpPr>
          <p:cNvPr id="3" name="Text 1"/>
          <p:cNvSpPr/>
          <p:nvPr/>
        </p:nvSpPr>
        <p:spPr>
          <a:xfrm>
            <a:off x="640080" y="676656"/>
            <a:ext cx="786384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500" b="1" dirty="0">
                <a:solidFill>
                  <a:srgbClr val="2E386E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Le cliffhanger</a:t>
            </a:r>
            <a:endParaRPr lang="en-US" sz="2500" dirty="0"/>
          </a:p>
        </p:txBody>
      </p:sp>
      <p:sp>
        <p:nvSpPr>
          <p:cNvPr id="4" name="Shape 2"/>
          <p:cNvSpPr/>
          <p:nvPr/>
        </p:nvSpPr>
        <p:spPr>
          <a:xfrm>
            <a:off x="640080" y="1417320"/>
            <a:ext cx="3840480" cy="1517904"/>
          </a:xfrm>
          <a:prstGeom prst="roundRect">
            <a:avLst>
              <a:gd name="adj" fmla="val 4819"/>
            </a:avLst>
          </a:prstGeom>
          <a:solidFill>
            <a:srgbClr val="FFFFFF"/>
          </a:solidFill>
          <a:ln/>
          <a:effectLst>
            <a:outerShdw sx="100000" sy="100000" kx="0" ky="0" algn="bl" rotWithShape="0" blurRad="114300" dist="38100" dir="8100000">
              <a:srgbClr val="2E386E">
                <a:alpha val="16000"/>
              </a:srgbClr>
            </a:outerShdw>
          </a:effectLst>
        </p:spPr>
      </p:sp>
      <p:pic>
        <p:nvPicPr>
          <p:cNvPr id="5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841248" y="1581912"/>
            <a:ext cx="237744" cy="237744"/>
          </a:xfrm>
          <a:prstGeom prst="rect">
            <a:avLst/>
          </a:prstGeom>
        </p:spPr>
      </p:pic>
      <p:sp>
        <p:nvSpPr>
          <p:cNvPr id="6" name="Text 3"/>
          <p:cNvSpPr/>
          <p:nvPr/>
        </p:nvSpPr>
        <p:spPr>
          <a:xfrm>
            <a:off x="1161288" y="1563624"/>
            <a:ext cx="3127248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b="1" spc="100" kern="0" dirty="0">
                <a:solidFill>
                  <a:srgbClr val="5D6CDB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COMMENT ÇA MARCHE</a:t>
            </a:r>
            <a:endParaRPr lang="en-US" sz="950" dirty="0"/>
          </a:p>
        </p:txBody>
      </p:sp>
      <p:sp>
        <p:nvSpPr>
          <p:cNvPr id="7" name="Text 4"/>
          <p:cNvSpPr/>
          <p:nvPr/>
        </p:nvSpPr>
        <p:spPr>
          <a:xfrm>
            <a:off x="841248" y="1892808"/>
            <a:ext cx="3438144" cy="93268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04000"/>
              </a:lnSpc>
              <a:buNone/>
            </a:pPr>
            <a:r>
              <a:rPr lang="en-US" sz="1150" dirty="0">
                <a:solidFill>
                  <a:srgbClr val="2E386E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Tu coupes ta vidéo juste avant le moment clé avec un quiz bloquant qui demande l'email.</a:t>
            </a:r>
            <a:endParaRPr lang="en-US" sz="1150" dirty="0"/>
          </a:p>
        </p:txBody>
      </p:sp>
      <p:sp>
        <p:nvSpPr>
          <p:cNvPr id="8" name="Shape 5"/>
          <p:cNvSpPr/>
          <p:nvPr/>
        </p:nvSpPr>
        <p:spPr>
          <a:xfrm>
            <a:off x="4663440" y="1417320"/>
            <a:ext cx="3840480" cy="1517904"/>
          </a:xfrm>
          <a:prstGeom prst="roundRect">
            <a:avLst>
              <a:gd name="adj" fmla="val 4819"/>
            </a:avLst>
          </a:prstGeom>
          <a:solidFill>
            <a:srgbClr val="FFFFFF"/>
          </a:solidFill>
          <a:ln/>
          <a:effectLst>
            <a:outerShdw sx="100000" sy="100000" kx="0" ky="0" algn="bl" rotWithShape="0" blurRad="114300" dist="38100" dir="8100000">
              <a:srgbClr val="2E386E">
                <a:alpha val="16000"/>
              </a:srgbClr>
            </a:outerShdw>
          </a:effectLst>
        </p:spPr>
      </p:sp>
      <p:pic>
        <p:nvPicPr>
          <p:cNvPr id="9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864608" y="1581912"/>
            <a:ext cx="237744" cy="237744"/>
          </a:xfrm>
          <a:prstGeom prst="rect">
            <a:avLst/>
          </a:prstGeom>
        </p:spPr>
      </p:pic>
      <p:sp>
        <p:nvSpPr>
          <p:cNvPr id="10" name="Text 6"/>
          <p:cNvSpPr/>
          <p:nvPr/>
        </p:nvSpPr>
        <p:spPr>
          <a:xfrm>
            <a:off x="5184648" y="1563624"/>
            <a:ext cx="3127248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b="1" spc="100" kern="0" dirty="0">
                <a:solidFill>
                  <a:srgbClr val="5D6CDB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POURQUOI ÇA MARCHE</a:t>
            </a:r>
            <a:endParaRPr lang="en-US" sz="950" dirty="0"/>
          </a:p>
        </p:txBody>
      </p:sp>
      <p:sp>
        <p:nvSpPr>
          <p:cNvPr id="11" name="Text 7"/>
          <p:cNvSpPr/>
          <p:nvPr/>
        </p:nvSpPr>
        <p:spPr>
          <a:xfrm>
            <a:off x="4864608" y="1892808"/>
            <a:ext cx="3438144" cy="93268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04000"/>
              </a:lnSpc>
              <a:buNone/>
            </a:pPr>
            <a:r>
              <a:rPr lang="en-US" sz="1150" dirty="0">
                <a:solidFill>
                  <a:srgbClr val="2E386E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L'envie de connaître la suite est plus forte que la flemme de laisser son email. Tu captures au sommet de la tension.</a:t>
            </a:r>
            <a:endParaRPr lang="en-US" sz="1150" dirty="0"/>
          </a:p>
        </p:txBody>
      </p:sp>
      <p:sp>
        <p:nvSpPr>
          <p:cNvPr id="12" name="Shape 8"/>
          <p:cNvSpPr/>
          <p:nvPr/>
        </p:nvSpPr>
        <p:spPr>
          <a:xfrm>
            <a:off x="640080" y="3099816"/>
            <a:ext cx="3840480" cy="1517904"/>
          </a:xfrm>
          <a:prstGeom prst="roundRect">
            <a:avLst>
              <a:gd name="adj" fmla="val 4819"/>
            </a:avLst>
          </a:prstGeom>
          <a:solidFill>
            <a:srgbClr val="FFFFFF"/>
          </a:solidFill>
          <a:ln/>
          <a:effectLst>
            <a:outerShdw sx="100000" sy="100000" kx="0" ky="0" algn="bl" rotWithShape="0" blurRad="114300" dist="38100" dir="8100000">
              <a:srgbClr val="2E386E">
                <a:alpha val="16000"/>
              </a:srgbClr>
            </a:outerShdw>
          </a:effectLst>
        </p:spPr>
      </p:sp>
      <p:pic>
        <p:nvPicPr>
          <p:cNvPr id="13" name="Image 2" descr="preencoded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41248" y="3264408"/>
            <a:ext cx="237744" cy="237744"/>
          </a:xfrm>
          <a:prstGeom prst="rect">
            <a:avLst/>
          </a:prstGeom>
        </p:spPr>
      </p:pic>
      <p:sp>
        <p:nvSpPr>
          <p:cNvPr id="14" name="Text 9"/>
          <p:cNvSpPr/>
          <p:nvPr/>
        </p:nvSpPr>
        <p:spPr>
          <a:xfrm>
            <a:off x="1161288" y="3246120"/>
            <a:ext cx="3127248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b="1" spc="100" kern="0" dirty="0">
                <a:solidFill>
                  <a:srgbClr val="F5B301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COMMENT ONT FAIT LES AUTRES</a:t>
            </a:r>
            <a:endParaRPr lang="en-US" sz="950" dirty="0"/>
          </a:p>
        </p:txBody>
      </p:sp>
      <p:sp>
        <p:nvSpPr>
          <p:cNvPr id="15" name="Text 10"/>
          <p:cNvSpPr/>
          <p:nvPr/>
        </p:nvSpPr>
        <p:spPr>
          <a:xfrm>
            <a:off x="841248" y="3575304"/>
            <a:ext cx="3438144" cy="93268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04000"/>
              </a:lnSpc>
              <a:buNone/>
            </a:pPr>
            <a:r>
              <a:rPr lang="en-US" sz="1150" dirty="0">
                <a:solidFill>
                  <a:srgbClr val="2E386E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C'est la technique des séries qui te coupent à la fin d'un épisode : impossible de ne pas vouloir la suite.</a:t>
            </a:r>
            <a:endParaRPr lang="en-US" sz="1150" dirty="0"/>
          </a:p>
        </p:txBody>
      </p:sp>
      <p:sp>
        <p:nvSpPr>
          <p:cNvPr id="16" name="Shape 11"/>
          <p:cNvSpPr/>
          <p:nvPr/>
        </p:nvSpPr>
        <p:spPr>
          <a:xfrm>
            <a:off x="4663440" y="3099816"/>
            <a:ext cx="3840480" cy="1517904"/>
          </a:xfrm>
          <a:prstGeom prst="roundRect">
            <a:avLst>
              <a:gd name="adj" fmla="val 4819"/>
            </a:avLst>
          </a:prstGeom>
          <a:solidFill>
            <a:srgbClr val="FFFFFF"/>
          </a:solidFill>
          <a:ln/>
          <a:effectLst>
            <a:outerShdw sx="100000" sy="100000" kx="0" ky="0" algn="bl" rotWithShape="0" blurRad="114300" dist="38100" dir="8100000">
              <a:srgbClr val="2E386E">
                <a:alpha val="16000"/>
              </a:srgbClr>
            </a:outerShdw>
          </a:effectLst>
        </p:spPr>
      </p:sp>
      <p:pic>
        <p:nvPicPr>
          <p:cNvPr id="17" name="Image 3" descr="preencoded.png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4864608" y="3264408"/>
            <a:ext cx="237744" cy="237744"/>
          </a:xfrm>
          <a:prstGeom prst="rect">
            <a:avLst/>
          </a:prstGeom>
        </p:spPr>
      </p:pic>
      <p:sp>
        <p:nvSpPr>
          <p:cNvPr id="18" name="Text 12"/>
          <p:cNvSpPr/>
          <p:nvPr/>
        </p:nvSpPr>
        <p:spPr>
          <a:xfrm>
            <a:off x="5184648" y="3246120"/>
            <a:ext cx="3127248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b="1" spc="100" kern="0" dirty="0">
                <a:solidFill>
                  <a:srgbClr val="2BB673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COMMENT FAIRE CHEZ TOI</a:t>
            </a:r>
            <a:endParaRPr lang="en-US" sz="950" dirty="0"/>
          </a:p>
        </p:txBody>
      </p:sp>
      <p:sp>
        <p:nvSpPr>
          <p:cNvPr id="19" name="Text 13"/>
          <p:cNvSpPr/>
          <p:nvPr/>
        </p:nvSpPr>
        <p:spPr>
          <a:xfrm>
            <a:off x="4864608" y="3575304"/>
            <a:ext cx="3438144" cy="93268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04000"/>
              </a:lnSpc>
              <a:buNone/>
            </a:pPr>
            <a:r>
              <a:rPr lang="en-US" sz="1150" dirty="0">
                <a:solidFill>
                  <a:srgbClr val="2E386E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Repère le moment le plus attendu de ta meilleure vidéo, et place un popquiz bloquant juste avant.</a:t>
            </a:r>
            <a:endParaRPr lang="en-US" sz="1150" dirty="0"/>
          </a:p>
        </p:txBody>
      </p:sp>
      <p:sp>
        <p:nvSpPr>
          <p:cNvPr id="20" name="Text 14"/>
          <p:cNvSpPr/>
          <p:nvPr/>
        </p:nvSpPr>
        <p:spPr>
          <a:xfrm>
            <a:off x="457200" y="4759452"/>
            <a:ext cx="6400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b="1" dirty="0">
                <a:solidFill>
                  <a:srgbClr val="6B73A0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L'Atelier du Quiz</a:t>
            </a:r>
            <a:pPr indent="0" marL="0">
              <a:buNone/>
            </a:pPr>
            <a:r>
              <a:rPr lang="en-US" sz="900" dirty="0">
                <a:solidFill>
                  <a:srgbClr val="6B73A0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   ·   Bonus</a:t>
            </a:r>
            <a:endParaRPr lang="en-US" sz="900" dirty="0"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40080" y="457200"/>
            <a:ext cx="78638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spc="100" kern="0" dirty="0">
                <a:solidFill>
                  <a:srgbClr val="F5B301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Exemple concret</a:t>
            </a:r>
            <a:endParaRPr lang="en-US" sz="1600" dirty="0"/>
          </a:p>
        </p:txBody>
      </p:sp>
      <p:sp>
        <p:nvSpPr>
          <p:cNvPr id="3" name="Text 1"/>
          <p:cNvSpPr/>
          <p:nvPr/>
        </p:nvSpPr>
        <p:spPr>
          <a:xfrm>
            <a:off x="640080" y="841248"/>
            <a:ext cx="78638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2E386E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Le cliffhanger</a:t>
            </a:r>
            <a:endParaRPr lang="en-US" sz="2400" dirty="0"/>
          </a:p>
        </p:txBody>
      </p:sp>
      <p:sp>
        <p:nvSpPr>
          <p:cNvPr id="4" name="Shape 2"/>
          <p:cNvSpPr/>
          <p:nvPr/>
        </p:nvSpPr>
        <p:spPr>
          <a:xfrm>
            <a:off x="640080" y="1691640"/>
            <a:ext cx="7863840" cy="2468880"/>
          </a:xfrm>
          <a:prstGeom prst="roundRect">
            <a:avLst>
              <a:gd name="adj" fmla="val 5185"/>
            </a:avLst>
          </a:prstGeom>
          <a:solidFill>
            <a:srgbClr val="EAECFB"/>
          </a:solidFill>
          <a:ln/>
        </p:spPr>
      </p:sp>
      <p:sp>
        <p:nvSpPr>
          <p:cNvPr id="5" name="Text 3"/>
          <p:cNvSpPr/>
          <p:nvPr/>
        </p:nvSpPr>
        <p:spPr>
          <a:xfrm>
            <a:off x="1005840" y="1691640"/>
            <a:ext cx="7132320" cy="2468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15000"/>
              </a:lnSpc>
              <a:buNone/>
            </a:pPr>
            <a:r>
              <a:rPr lang="en-US" sz="1600" dirty="0">
                <a:solidFill>
                  <a:srgbClr val="2E386E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Dans ta vidéo « les 3 erreurs qui tuent tes ventes », juste avant l'erreur n°3 (la pire), le popquiz apparaît : « Réponds pour débloquer l'erreur n°3 ». Personne ne lâche si près du but. Tu captures à fond.</a:t>
            </a:r>
            <a:endParaRPr lang="en-US" sz="1600" dirty="0"/>
          </a:p>
        </p:txBody>
      </p:sp>
      <p:sp>
        <p:nvSpPr>
          <p:cNvPr id="6" name="Text 4"/>
          <p:cNvSpPr/>
          <p:nvPr/>
        </p:nvSpPr>
        <p:spPr>
          <a:xfrm>
            <a:off x="457200" y="4759452"/>
            <a:ext cx="6400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b="1" dirty="0">
                <a:solidFill>
                  <a:srgbClr val="6B73A0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L'Atelier du Quiz</a:t>
            </a:r>
            <a:pPr indent="0" marL="0">
              <a:buNone/>
            </a:pPr>
            <a:r>
              <a:rPr lang="en-US" sz="900" dirty="0">
                <a:solidFill>
                  <a:srgbClr val="6B73A0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   ·   Bonus</a:t>
            </a:r>
            <a:endParaRPr lang="en-US" sz="900" dirty="0"/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2">
    <p:bg>
      <p:bgPr>
        <a:solidFill>
          <a:srgbClr val="F4F5F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40080" y="365760"/>
            <a:ext cx="73152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spc="200" kern="0" dirty="0">
                <a:solidFill>
                  <a:srgbClr val="F5B301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GROWTH HACK   2/2</a:t>
            </a:r>
            <a:endParaRPr lang="en-US" sz="1200" dirty="0"/>
          </a:p>
        </p:txBody>
      </p:sp>
      <p:sp>
        <p:nvSpPr>
          <p:cNvPr id="3" name="Text 1"/>
          <p:cNvSpPr/>
          <p:nvPr/>
        </p:nvSpPr>
        <p:spPr>
          <a:xfrm>
            <a:off x="640080" y="676656"/>
            <a:ext cx="786384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500" b="1" dirty="0">
                <a:solidFill>
                  <a:srgbClr val="2E386E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Le webinaire automatique</a:t>
            </a:r>
            <a:endParaRPr lang="en-US" sz="2500" dirty="0"/>
          </a:p>
        </p:txBody>
      </p:sp>
      <p:sp>
        <p:nvSpPr>
          <p:cNvPr id="4" name="Shape 2"/>
          <p:cNvSpPr/>
          <p:nvPr/>
        </p:nvSpPr>
        <p:spPr>
          <a:xfrm>
            <a:off x="640080" y="1417320"/>
            <a:ext cx="3840480" cy="1517904"/>
          </a:xfrm>
          <a:prstGeom prst="roundRect">
            <a:avLst>
              <a:gd name="adj" fmla="val 4819"/>
            </a:avLst>
          </a:prstGeom>
          <a:solidFill>
            <a:srgbClr val="FFFFFF"/>
          </a:solidFill>
          <a:ln/>
          <a:effectLst>
            <a:outerShdw sx="100000" sy="100000" kx="0" ky="0" algn="bl" rotWithShape="0" blurRad="114300" dist="38100" dir="8100000">
              <a:srgbClr val="2E386E">
                <a:alpha val="16000"/>
              </a:srgbClr>
            </a:outerShdw>
          </a:effectLst>
        </p:spPr>
      </p:sp>
      <p:pic>
        <p:nvPicPr>
          <p:cNvPr id="5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841248" y="1581912"/>
            <a:ext cx="237744" cy="237744"/>
          </a:xfrm>
          <a:prstGeom prst="rect">
            <a:avLst/>
          </a:prstGeom>
        </p:spPr>
      </p:pic>
      <p:sp>
        <p:nvSpPr>
          <p:cNvPr id="6" name="Text 3"/>
          <p:cNvSpPr/>
          <p:nvPr/>
        </p:nvSpPr>
        <p:spPr>
          <a:xfrm>
            <a:off x="1161288" y="1563624"/>
            <a:ext cx="3127248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b="1" spc="100" kern="0" dirty="0">
                <a:solidFill>
                  <a:srgbClr val="5D6CDB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COMMENT ÇA MARCHE</a:t>
            </a:r>
            <a:endParaRPr lang="en-US" sz="950" dirty="0"/>
          </a:p>
        </p:txBody>
      </p:sp>
      <p:sp>
        <p:nvSpPr>
          <p:cNvPr id="7" name="Text 4"/>
          <p:cNvSpPr/>
          <p:nvPr/>
        </p:nvSpPr>
        <p:spPr>
          <a:xfrm>
            <a:off x="841248" y="1892808"/>
            <a:ext cx="3438144" cy="93268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04000"/>
              </a:lnSpc>
              <a:buNone/>
            </a:pPr>
            <a:r>
              <a:rPr lang="en-US" sz="1150" dirty="0">
                <a:solidFill>
                  <a:srgbClr val="2E386E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Tu incrustes ton quiz dans ta meilleure vidéo de valeur, et tu la laisses tourner en boucle.</a:t>
            </a:r>
            <a:endParaRPr lang="en-US" sz="1150" dirty="0"/>
          </a:p>
        </p:txBody>
      </p:sp>
      <p:sp>
        <p:nvSpPr>
          <p:cNvPr id="8" name="Shape 5"/>
          <p:cNvSpPr/>
          <p:nvPr/>
        </p:nvSpPr>
        <p:spPr>
          <a:xfrm>
            <a:off x="4663440" y="1417320"/>
            <a:ext cx="3840480" cy="1517904"/>
          </a:xfrm>
          <a:prstGeom prst="roundRect">
            <a:avLst>
              <a:gd name="adj" fmla="val 4819"/>
            </a:avLst>
          </a:prstGeom>
          <a:solidFill>
            <a:srgbClr val="FFFFFF"/>
          </a:solidFill>
          <a:ln/>
          <a:effectLst>
            <a:outerShdw sx="100000" sy="100000" kx="0" ky="0" algn="bl" rotWithShape="0" blurRad="114300" dist="38100" dir="8100000">
              <a:srgbClr val="2E386E">
                <a:alpha val="16000"/>
              </a:srgbClr>
            </a:outerShdw>
          </a:effectLst>
        </p:spPr>
      </p:sp>
      <p:pic>
        <p:nvPicPr>
          <p:cNvPr id="9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864608" y="1581912"/>
            <a:ext cx="237744" cy="237744"/>
          </a:xfrm>
          <a:prstGeom prst="rect">
            <a:avLst/>
          </a:prstGeom>
        </p:spPr>
      </p:pic>
      <p:sp>
        <p:nvSpPr>
          <p:cNvPr id="10" name="Text 6"/>
          <p:cNvSpPr/>
          <p:nvPr/>
        </p:nvSpPr>
        <p:spPr>
          <a:xfrm>
            <a:off x="5184648" y="1563624"/>
            <a:ext cx="3127248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b="1" spc="100" kern="0" dirty="0">
                <a:solidFill>
                  <a:srgbClr val="5D6CDB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POURQUOI ÇA MARCHE</a:t>
            </a:r>
            <a:endParaRPr lang="en-US" sz="950" dirty="0"/>
          </a:p>
        </p:txBody>
      </p:sp>
      <p:sp>
        <p:nvSpPr>
          <p:cNvPr id="11" name="Text 7"/>
          <p:cNvSpPr/>
          <p:nvPr/>
        </p:nvSpPr>
        <p:spPr>
          <a:xfrm>
            <a:off x="4864608" y="1892808"/>
            <a:ext cx="3438144" cy="93268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04000"/>
              </a:lnSpc>
              <a:buNone/>
            </a:pPr>
            <a:r>
              <a:rPr lang="en-US" sz="1150" dirty="0">
                <a:solidFill>
                  <a:srgbClr val="2E386E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Tu as l'effet d'un webinaire (contenu fort qui capture et vend) sans refaire un live à chaque fois. Ça travaille pendant que tu dors.</a:t>
            </a:r>
            <a:endParaRPr lang="en-US" sz="1150" dirty="0"/>
          </a:p>
        </p:txBody>
      </p:sp>
      <p:sp>
        <p:nvSpPr>
          <p:cNvPr id="12" name="Shape 8"/>
          <p:cNvSpPr/>
          <p:nvPr/>
        </p:nvSpPr>
        <p:spPr>
          <a:xfrm>
            <a:off x="640080" y="3099816"/>
            <a:ext cx="3840480" cy="1517904"/>
          </a:xfrm>
          <a:prstGeom prst="roundRect">
            <a:avLst>
              <a:gd name="adj" fmla="val 4819"/>
            </a:avLst>
          </a:prstGeom>
          <a:solidFill>
            <a:srgbClr val="FFFFFF"/>
          </a:solidFill>
          <a:ln/>
          <a:effectLst>
            <a:outerShdw sx="100000" sy="100000" kx="0" ky="0" algn="bl" rotWithShape="0" blurRad="114300" dist="38100" dir="8100000">
              <a:srgbClr val="2E386E">
                <a:alpha val="16000"/>
              </a:srgbClr>
            </a:outerShdw>
          </a:effectLst>
        </p:spPr>
      </p:sp>
      <p:pic>
        <p:nvPicPr>
          <p:cNvPr id="13" name="Image 2" descr="preencoded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41248" y="3264408"/>
            <a:ext cx="237744" cy="237744"/>
          </a:xfrm>
          <a:prstGeom prst="rect">
            <a:avLst/>
          </a:prstGeom>
        </p:spPr>
      </p:pic>
      <p:sp>
        <p:nvSpPr>
          <p:cNvPr id="14" name="Text 9"/>
          <p:cNvSpPr/>
          <p:nvPr/>
        </p:nvSpPr>
        <p:spPr>
          <a:xfrm>
            <a:off x="1161288" y="3246120"/>
            <a:ext cx="3127248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b="1" spc="100" kern="0" dirty="0">
                <a:solidFill>
                  <a:srgbClr val="F5B301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COMMENT ONT FAIT LES AUTRES</a:t>
            </a:r>
            <a:endParaRPr lang="en-US" sz="950" dirty="0"/>
          </a:p>
        </p:txBody>
      </p:sp>
      <p:sp>
        <p:nvSpPr>
          <p:cNvPr id="15" name="Text 10"/>
          <p:cNvSpPr/>
          <p:nvPr/>
        </p:nvSpPr>
        <p:spPr>
          <a:xfrm>
            <a:off x="841248" y="3575304"/>
            <a:ext cx="3438144" cy="93268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04000"/>
              </a:lnSpc>
              <a:buNone/>
            </a:pPr>
            <a:r>
              <a:rPr lang="en-US" sz="1150" dirty="0">
                <a:solidFill>
                  <a:srgbClr val="2E386E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Les marques qui « evergreenisent » leur webinaire vendent en continu, sans rejouer la session.</a:t>
            </a:r>
            <a:endParaRPr lang="en-US" sz="1150" dirty="0"/>
          </a:p>
        </p:txBody>
      </p:sp>
      <p:sp>
        <p:nvSpPr>
          <p:cNvPr id="16" name="Shape 11"/>
          <p:cNvSpPr/>
          <p:nvPr/>
        </p:nvSpPr>
        <p:spPr>
          <a:xfrm>
            <a:off x="4663440" y="3099816"/>
            <a:ext cx="3840480" cy="1517904"/>
          </a:xfrm>
          <a:prstGeom prst="roundRect">
            <a:avLst>
              <a:gd name="adj" fmla="val 4819"/>
            </a:avLst>
          </a:prstGeom>
          <a:solidFill>
            <a:srgbClr val="FFFFFF"/>
          </a:solidFill>
          <a:ln/>
          <a:effectLst>
            <a:outerShdw sx="100000" sy="100000" kx="0" ky="0" algn="bl" rotWithShape="0" blurRad="114300" dist="38100" dir="8100000">
              <a:srgbClr val="2E386E">
                <a:alpha val="16000"/>
              </a:srgbClr>
            </a:outerShdw>
          </a:effectLst>
        </p:spPr>
      </p:sp>
      <p:pic>
        <p:nvPicPr>
          <p:cNvPr id="17" name="Image 3" descr="preencoded.png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4864608" y="3264408"/>
            <a:ext cx="237744" cy="237744"/>
          </a:xfrm>
          <a:prstGeom prst="rect">
            <a:avLst/>
          </a:prstGeom>
        </p:spPr>
      </p:pic>
      <p:sp>
        <p:nvSpPr>
          <p:cNvPr id="18" name="Text 12"/>
          <p:cNvSpPr/>
          <p:nvPr/>
        </p:nvSpPr>
        <p:spPr>
          <a:xfrm>
            <a:off x="5184648" y="3246120"/>
            <a:ext cx="3127248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b="1" spc="100" kern="0" dirty="0">
                <a:solidFill>
                  <a:srgbClr val="2BB673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COMMENT FAIRE CHEZ TOI</a:t>
            </a:r>
            <a:endParaRPr lang="en-US" sz="950" dirty="0"/>
          </a:p>
        </p:txBody>
      </p:sp>
      <p:sp>
        <p:nvSpPr>
          <p:cNvPr id="19" name="Text 13"/>
          <p:cNvSpPr/>
          <p:nvPr/>
        </p:nvSpPr>
        <p:spPr>
          <a:xfrm>
            <a:off x="4864608" y="3575304"/>
            <a:ext cx="3438144" cy="93268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04000"/>
              </a:lnSpc>
              <a:buNone/>
            </a:pPr>
            <a:r>
              <a:rPr lang="en-US" sz="1150" dirty="0">
                <a:solidFill>
                  <a:srgbClr val="2E386E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Prends ta vidéo qui convainc le mieux, incruste le quiz au moment fort, et mets-la sur une page dédiée.</a:t>
            </a:r>
            <a:endParaRPr lang="en-US" sz="1150" dirty="0"/>
          </a:p>
        </p:txBody>
      </p:sp>
      <p:sp>
        <p:nvSpPr>
          <p:cNvPr id="20" name="Text 14"/>
          <p:cNvSpPr/>
          <p:nvPr/>
        </p:nvSpPr>
        <p:spPr>
          <a:xfrm>
            <a:off x="457200" y="4759452"/>
            <a:ext cx="6400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b="1" dirty="0">
                <a:solidFill>
                  <a:srgbClr val="6B73A0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L'Atelier du Quiz</a:t>
            </a:r>
            <a:pPr indent="0" marL="0">
              <a:buNone/>
            </a:pPr>
            <a:r>
              <a:rPr lang="en-US" sz="900" dirty="0">
                <a:solidFill>
                  <a:srgbClr val="6B73A0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   ·   Bonus</a:t>
            </a:r>
            <a:endParaRPr lang="en-US" sz="900" dirty="0"/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3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40080" y="457200"/>
            <a:ext cx="78638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spc="100" kern="0" dirty="0">
                <a:solidFill>
                  <a:srgbClr val="F5B301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Exemple concret</a:t>
            </a:r>
            <a:endParaRPr lang="en-US" sz="1600" dirty="0"/>
          </a:p>
        </p:txBody>
      </p:sp>
      <p:sp>
        <p:nvSpPr>
          <p:cNvPr id="3" name="Text 1"/>
          <p:cNvSpPr/>
          <p:nvPr/>
        </p:nvSpPr>
        <p:spPr>
          <a:xfrm>
            <a:off x="640080" y="841248"/>
            <a:ext cx="78638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2E386E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Le webinaire automatique</a:t>
            </a:r>
            <a:endParaRPr lang="en-US" sz="2400" dirty="0"/>
          </a:p>
        </p:txBody>
      </p:sp>
      <p:sp>
        <p:nvSpPr>
          <p:cNvPr id="4" name="Shape 2"/>
          <p:cNvSpPr/>
          <p:nvPr/>
        </p:nvSpPr>
        <p:spPr>
          <a:xfrm>
            <a:off x="640080" y="1691640"/>
            <a:ext cx="7863840" cy="2468880"/>
          </a:xfrm>
          <a:prstGeom prst="roundRect">
            <a:avLst>
              <a:gd name="adj" fmla="val 5185"/>
            </a:avLst>
          </a:prstGeom>
          <a:solidFill>
            <a:srgbClr val="EAECFB"/>
          </a:solidFill>
          <a:ln/>
        </p:spPr>
      </p:sp>
      <p:sp>
        <p:nvSpPr>
          <p:cNvPr id="5" name="Text 3"/>
          <p:cNvSpPr/>
          <p:nvPr/>
        </p:nvSpPr>
        <p:spPr>
          <a:xfrm>
            <a:off x="1005840" y="1691640"/>
            <a:ext cx="7132320" cy="2468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15000"/>
              </a:lnSpc>
              <a:buNone/>
            </a:pPr>
            <a:r>
              <a:rPr lang="en-US" sz="1600" dirty="0">
                <a:solidFill>
                  <a:srgbClr val="2E386E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Ta masterclass de 30 min capture des leads chaque jour : au pic, le popquiz récolte les emails, et la fin oriente vers ton offre. Tu l'as enregistrée une fois, elle vend toute l'année.</a:t>
            </a:r>
            <a:endParaRPr lang="en-US" sz="1600" dirty="0"/>
          </a:p>
        </p:txBody>
      </p:sp>
      <p:sp>
        <p:nvSpPr>
          <p:cNvPr id="6" name="Text 4"/>
          <p:cNvSpPr/>
          <p:nvPr/>
        </p:nvSpPr>
        <p:spPr>
          <a:xfrm>
            <a:off x="457200" y="4759452"/>
            <a:ext cx="6400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b="1" dirty="0">
                <a:solidFill>
                  <a:srgbClr val="6B73A0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L'Atelier du Quiz</a:t>
            </a:r>
            <a:pPr indent="0" marL="0">
              <a:buNone/>
            </a:pPr>
            <a:r>
              <a:rPr lang="en-US" sz="900" dirty="0">
                <a:solidFill>
                  <a:srgbClr val="6B73A0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   ·   Bonus</a:t>
            </a:r>
            <a:endParaRPr lang="en-US" sz="900" dirty="0"/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4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40080" y="548640"/>
            <a:ext cx="786384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2E386E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L'erreur à éviter</a:t>
            </a:r>
            <a:endParaRPr lang="en-US" sz="3000" dirty="0"/>
          </a:p>
        </p:txBody>
      </p:sp>
      <p:sp>
        <p:nvSpPr>
          <p:cNvPr id="3" name="Shape 1"/>
          <p:cNvSpPr/>
          <p:nvPr/>
        </p:nvSpPr>
        <p:spPr>
          <a:xfrm>
            <a:off x="640080" y="1554480"/>
            <a:ext cx="7863840" cy="1188720"/>
          </a:xfrm>
          <a:prstGeom prst="roundRect">
            <a:avLst>
              <a:gd name="adj" fmla="val 9231"/>
            </a:avLst>
          </a:prstGeom>
          <a:solidFill>
            <a:srgbClr val="FBEAF0"/>
          </a:solidFill>
          <a:ln/>
        </p:spPr>
      </p:sp>
      <p:sp>
        <p:nvSpPr>
          <p:cNvPr id="4" name="Text 2"/>
          <p:cNvSpPr/>
          <p:nvPr/>
        </p:nvSpPr>
        <p:spPr>
          <a:xfrm>
            <a:off x="914400" y="1554480"/>
            <a:ext cx="7315200" cy="11887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10000"/>
              </a:lnSpc>
              <a:buNone/>
            </a:pPr>
            <a:r>
              <a:rPr lang="en-US" sz="1600" b="1" dirty="0">
                <a:solidFill>
                  <a:srgbClr val="E5577D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L'erreur :  </a:t>
            </a:r>
            <a:pPr indent="0" marL="0">
              <a:lnSpc>
                <a:spcPct val="110000"/>
              </a:lnSpc>
              <a:buNone/>
            </a:pPr>
            <a:r>
              <a:rPr lang="en-US" sz="1600" dirty="0">
                <a:solidFill>
                  <a:srgbClr val="2E386E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Mettre le popquiz à la fin de la vidéo, quand l'attention est déjà retombée et que les gens sont partis.</a:t>
            </a:r>
            <a:endParaRPr lang="en-US" sz="1600" dirty="0"/>
          </a:p>
        </p:txBody>
      </p:sp>
      <p:sp>
        <p:nvSpPr>
          <p:cNvPr id="5" name="Shape 3"/>
          <p:cNvSpPr/>
          <p:nvPr/>
        </p:nvSpPr>
        <p:spPr>
          <a:xfrm>
            <a:off x="640080" y="2926080"/>
            <a:ext cx="7863840" cy="1188720"/>
          </a:xfrm>
          <a:prstGeom prst="roundRect">
            <a:avLst>
              <a:gd name="adj" fmla="val 9231"/>
            </a:avLst>
          </a:prstGeom>
          <a:solidFill>
            <a:srgbClr val="EAF7F0"/>
          </a:solidFill>
          <a:ln/>
        </p:spPr>
      </p:sp>
      <p:sp>
        <p:nvSpPr>
          <p:cNvPr id="6" name="Text 4"/>
          <p:cNvSpPr/>
          <p:nvPr/>
        </p:nvSpPr>
        <p:spPr>
          <a:xfrm>
            <a:off x="914400" y="2926080"/>
            <a:ext cx="7315200" cy="11887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10000"/>
              </a:lnSpc>
              <a:buNone/>
            </a:pPr>
            <a:r>
              <a:rPr lang="en-US" sz="1600" b="1" dirty="0">
                <a:solidFill>
                  <a:srgbClr val="2BB673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La solution :  </a:t>
            </a:r>
            <a:pPr indent="0" marL="0">
              <a:lnSpc>
                <a:spcPct val="110000"/>
              </a:lnSpc>
              <a:buNone/>
            </a:pPr>
            <a:r>
              <a:rPr lang="en-US" sz="1600" dirty="0">
                <a:solidFill>
                  <a:srgbClr val="2E386E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Place-le au pic d'attention, juste avant le moment le plus attendu. C'est là que les gens acceptent de laisser leur email.</a:t>
            </a:r>
            <a:endParaRPr lang="en-US" sz="1600" dirty="0"/>
          </a:p>
        </p:txBody>
      </p:sp>
      <p:sp>
        <p:nvSpPr>
          <p:cNvPr id="7" name="Text 5"/>
          <p:cNvSpPr/>
          <p:nvPr/>
        </p:nvSpPr>
        <p:spPr>
          <a:xfrm>
            <a:off x="457200" y="4759452"/>
            <a:ext cx="6400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b="1" dirty="0">
                <a:solidFill>
                  <a:srgbClr val="6B73A0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L'Atelier du Quiz</a:t>
            </a:r>
            <a:pPr indent="0" marL="0">
              <a:buNone/>
            </a:pPr>
            <a:r>
              <a:rPr lang="en-US" sz="900" dirty="0">
                <a:solidFill>
                  <a:srgbClr val="6B73A0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   ·   Bonus</a:t>
            </a:r>
            <a:endParaRPr lang="en-US" sz="900" dirty="0"/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5">
    <p:bg>
      <p:bgPr>
        <a:solidFill>
          <a:srgbClr val="2E386E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7955280" y="-640080"/>
            <a:ext cx="2194560" cy="2194560"/>
          </a:xfrm>
          <a:prstGeom prst="ellipse">
            <a:avLst/>
          </a:prstGeom>
          <a:solidFill>
            <a:srgbClr val="5D6CDB">
              <a:alpha val="30000"/>
            </a:srgbClr>
          </a:solidFill>
          <a:ln/>
        </p:spPr>
      </p:sp>
      <p:sp>
        <p:nvSpPr>
          <p:cNvPr id="3" name="Shape 1"/>
          <p:cNvSpPr/>
          <p:nvPr/>
        </p:nvSpPr>
        <p:spPr>
          <a:xfrm>
            <a:off x="8686800" y="4023360"/>
            <a:ext cx="1554480" cy="1554480"/>
          </a:xfrm>
          <a:prstGeom prst="ellipse">
            <a:avLst/>
          </a:prstGeom>
          <a:solidFill>
            <a:srgbClr val="5D6CDB">
              <a:alpha val="20000"/>
            </a:srgbClr>
          </a:solidFill>
          <a:ln/>
        </p:spPr>
      </p:sp>
      <p:sp>
        <p:nvSpPr>
          <p:cNvPr id="4" name="Text 2"/>
          <p:cNvSpPr/>
          <p:nvPr/>
        </p:nvSpPr>
        <p:spPr>
          <a:xfrm>
            <a:off x="640080" y="548640"/>
            <a:ext cx="78638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spc="200" kern="0" dirty="0">
                <a:solidFill>
                  <a:srgbClr val="F5B301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CE QUE TU SAIS MAINTENANT</a:t>
            </a:r>
            <a:endParaRPr lang="en-US" sz="1500" dirty="0"/>
          </a:p>
        </p:txBody>
      </p:sp>
      <p:sp>
        <p:nvSpPr>
          <p:cNvPr id="5" name="Shape 3"/>
          <p:cNvSpPr/>
          <p:nvPr/>
        </p:nvSpPr>
        <p:spPr>
          <a:xfrm>
            <a:off x="640080" y="1502474"/>
            <a:ext cx="384048" cy="384048"/>
          </a:xfrm>
          <a:prstGeom prst="ellipse">
            <a:avLst/>
          </a:prstGeom>
          <a:solidFill>
            <a:srgbClr val="2BB673"/>
          </a:solidFill>
          <a:ln/>
        </p:spPr>
      </p:sp>
      <p:sp>
        <p:nvSpPr>
          <p:cNvPr id="6" name="Text 4"/>
          <p:cNvSpPr/>
          <p:nvPr/>
        </p:nvSpPr>
        <p:spPr>
          <a:xfrm>
            <a:off x="640080" y="1502474"/>
            <a:ext cx="38404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✓</a:t>
            </a:r>
            <a:endParaRPr lang="en-US" sz="1400" dirty="0"/>
          </a:p>
        </p:txBody>
      </p:sp>
      <p:sp>
        <p:nvSpPr>
          <p:cNvPr id="7" name="Text 5"/>
          <p:cNvSpPr/>
          <p:nvPr/>
        </p:nvSpPr>
        <p:spPr>
          <a:xfrm>
            <a:off x="1234440" y="1325880"/>
            <a:ext cx="7223760" cy="737235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50" dirty="0">
                <a:solidFill>
                  <a:srgbClr val="FFFFFF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Tu sais qu'un popquiz est un quiz incrusté dans une vidéo, un format rare.</a:t>
            </a:r>
            <a:endParaRPr lang="en-US" sz="1550" dirty="0"/>
          </a:p>
        </p:txBody>
      </p:sp>
      <p:sp>
        <p:nvSpPr>
          <p:cNvPr id="8" name="Shape 6"/>
          <p:cNvSpPr/>
          <p:nvPr/>
        </p:nvSpPr>
        <p:spPr>
          <a:xfrm>
            <a:off x="640080" y="2239708"/>
            <a:ext cx="384048" cy="384048"/>
          </a:xfrm>
          <a:prstGeom prst="ellipse">
            <a:avLst/>
          </a:prstGeom>
          <a:solidFill>
            <a:srgbClr val="2BB673"/>
          </a:solidFill>
          <a:ln/>
        </p:spPr>
      </p:sp>
      <p:sp>
        <p:nvSpPr>
          <p:cNvPr id="9" name="Text 7"/>
          <p:cNvSpPr/>
          <p:nvPr/>
        </p:nvSpPr>
        <p:spPr>
          <a:xfrm>
            <a:off x="640080" y="2239708"/>
            <a:ext cx="38404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✓</a:t>
            </a:r>
            <a:endParaRPr lang="en-US" sz="1400" dirty="0"/>
          </a:p>
        </p:txBody>
      </p:sp>
      <p:sp>
        <p:nvSpPr>
          <p:cNvPr id="10" name="Text 8"/>
          <p:cNvSpPr/>
          <p:nvPr/>
        </p:nvSpPr>
        <p:spPr>
          <a:xfrm>
            <a:off x="1234440" y="2063115"/>
            <a:ext cx="7223760" cy="737235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50" dirty="0">
                <a:solidFill>
                  <a:srgbClr val="FFFFFF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Tu sais placer plusieurs cuepoints, bloquants ou optionnels, et l'embarquer.</a:t>
            </a:r>
            <a:endParaRPr lang="en-US" sz="1550" dirty="0"/>
          </a:p>
        </p:txBody>
      </p:sp>
      <p:sp>
        <p:nvSpPr>
          <p:cNvPr id="11" name="Shape 9"/>
          <p:cNvSpPr/>
          <p:nvPr/>
        </p:nvSpPr>
        <p:spPr>
          <a:xfrm>
            <a:off x="640080" y="2976944"/>
            <a:ext cx="384048" cy="384048"/>
          </a:xfrm>
          <a:prstGeom prst="ellipse">
            <a:avLst/>
          </a:prstGeom>
          <a:solidFill>
            <a:srgbClr val="2BB673"/>
          </a:solidFill>
          <a:ln/>
        </p:spPr>
      </p:sp>
      <p:sp>
        <p:nvSpPr>
          <p:cNvPr id="12" name="Text 10"/>
          <p:cNvSpPr/>
          <p:nvPr/>
        </p:nvSpPr>
        <p:spPr>
          <a:xfrm>
            <a:off x="640080" y="2976944"/>
            <a:ext cx="38404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✓</a:t>
            </a:r>
            <a:endParaRPr lang="en-US" sz="1400" dirty="0"/>
          </a:p>
        </p:txBody>
      </p:sp>
      <p:sp>
        <p:nvSpPr>
          <p:cNvPr id="13" name="Text 11"/>
          <p:cNvSpPr/>
          <p:nvPr/>
        </p:nvSpPr>
        <p:spPr>
          <a:xfrm>
            <a:off x="1234440" y="2800350"/>
            <a:ext cx="7223760" cy="737235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50" dirty="0">
                <a:solidFill>
                  <a:srgbClr val="FFFFFF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Tu sais capter au pic avec le cliffhanger.</a:t>
            </a:r>
            <a:endParaRPr lang="en-US" sz="1550" dirty="0"/>
          </a:p>
        </p:txBody>
      </p:sp>
      <p:sp>
        <p:nvSpPr>
          <p:cNvPr id="14" name="Shape 12"/>
          <p:cNvSpPr/>
          <p:nvPr/>
        </p:nvSpPr>
        <p:spPr>
          <a:xfrm>
            <a:off x="640080" y="3714178"/>
            <a:ext cx="384048" cy="384048"/>
          </a:xfrm>
          <a:prstGeom prst="ellipse">
            <a:avLst/>
          </a:prstGeom>
          <a:solidFill>
            <a:srgbClr val="2BB673"/>
          </a:solidFill>
          <a:ln/>
        </p:spPr>
      </p:sp>
      <p:sp>
        <p:nvSpPr>
          <p:cNvPr id="15" name="Text 13"/>
          <p:cNvSpPr/>
          <p:nvPr/>
        </p:nvSpPr>
        <p:spPr>
          <a:xfrm>
            <a:off x="640080" y="3714178"/>
            <a:ext cx="38404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✓</a:t>
            </a:r>
            <a:endParaRPr lang="en-US" sz="1400" dirty="0"/>
          </a:p>
        </p:txBody>
      </p:sp>
      <p:sp>
        <p:nvSpPr>
          <p:cNvPr id="16" name="Text 14"/>
          <p:cNvSpPr/>
          <p:nvPr/>
        </p:nvSpPr>
        <p:spPr>
          <a:xfrm>
            <a:off x="1234440" y="3537585"/>
            <a:ext cx="7223760" cy="737235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50" dirty="0">
                <a:solidFill>
                  <a:srgbClr val="FFFFFF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Tu sais transformer ta meilleure vidéo en webinaire automatique.</a:t>
            </a:r>
            <a:endParaRPr lang="en-US" sz="1550" dirty="0"/>
          </a:p>
        </p:txBody>
      </p:sp>
      <p:sp>
        <p:nvSpPr>
          <p:cNvPr id="17" name="Text 15"/>
          <p:cNvSpPr/>
          <p:nvPr/>
        </p:nvSpPr>
        <p:spPr>
          <a:xfrm>
            <a:off x="658368" y="4457700"/>
            <a:ext cx="78638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50" i="1" dirty="0">
                <a:solidFill>
                  <a:srgbClr val="EAECFB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Tu peux déjà l'expliquer à quelqu'un qui n'y connaît rien.</a:t>
            </a:r>
            <a:endParaRPr lang="en-US" sz="1350" dirty="0"/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6">
    <p:bg>
      <p:bgPr>
        <a:solidFill>
          <a:srgbClr val="2E386E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-731520" y="3291840"/>
            <a:ext cx="2377440" cy="2377440"/>
          </a:xfrm>
          <a:prstGeom prst="ellipse">
            <a:avLst/>
          </a:prstGeom>
          <a:solidFill>
            <a:srgbClr val="5D6CDB">
              <a:alpha val="45000"/>
            </a:srgbClr>
          </a:solidFill>
          <a:ln/>
        </p:spPr>
      </p:sp>
      <p:sp>
        <p:nvSpPr>
          <p:cNvPr id="3" name="Text 1"/>
          <p:cNvSpPr/>
          <p:nvPr/>
        </p:nvSpPr>
        <p:spPr>
          <a:xfrm>
            <a:off x="640080" y="1371600"/>
            <a:ext cx="78638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spc="300" kern="0" dirty="0">
                <a:solidFill>
                  <a:srgbClr val="F5B301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ON PASSE À L'ÉCRAN</a:t>
            </a:r>
            <a:endParaRPr lang="en-US" sz="1600" dirty="0"/>
          </a:p>
        </p:txBody>
      </p:sp>
      <p:sp>
        <p:nvSpPr>
          <p:cNvPr id="4" name="Text 2"/>
          <p:cNvSpPr/>
          <p:nvPr/>
        </p:nvSpPr>
        <p:spPr>
          <a:xfrm>
            <a:off x="640080" y="1965960"/>
            <a:ext cx="7863840" cy="1463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05000"/>
              </a:lnSpc>
              <a:buNone/>
            </a:pPr>
            <a:r>
              <a:rPr lang="en-US" sz="3000" b="1" dirty="0">
                <a:solidFill>
                  <a:srgbClr val="FFFFFF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Placer plusieurs cuepoints sur une vidéo dans Tiquiz, et montrer l'embed.</a:t>
            </a:r>
            <a:endParaRPr lang="en-US" sz="3000" dirty="0"/>
          </a:p>
        </p:txBody>
      </p:sp>
      <p:sp>
        <p:nvSpPr>
          <p:cNvPr id="5" name="Text 3"/>
          <p:cNvSpPr/>
          <p:nvPr/>
        </p:nvSpPr>
        <p:spPr>
          <a:xfrm>
            <a:off x="658368" y="3611880"/>
            <a:ext cx="7315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i="1" dirty="0">
                <a:solidFill>
                  <a:srgbClr val="EAECFB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Je te montre en direct, suis pas à pas.</a:t>
            </a:r>
            <a:endParaRPr lang="en-US" sz="1500" dirty="0"/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7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40080" y="457200"/>
            <a:ext cx="786384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2E386E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Ta mission du jour</a:t>
            </a:r>
            <a:endParaRPr lang="en-US" sz="3000" dirty="0"/>
          </a:p>
        </p:txBody>
      </p:sp>
      <p:sp>
        <p:nvSpPr>
          <p:cNvPr id="3" name="Text 1"/>
          <p:cNvSpPr/>
          <p:nvPr/>
        </p:nvSpPr>
        <p:spPr>
          <a:xfrm>
            <a:off x="658368" y="1078992"/>
            <a:ext cx="78638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50" i="1" dirty="0">
                <a:solidFill>
                  <a:srgbClr val="6B73A0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Tu valides le quiz du jour pour débloquer le suivant.</a:t>
            </a:r>
            <a:endParaRPr lang="en-US" sz="1350" dirty="0"/>
          </a:p>
        </p:txBody>
      </p:sp>
      <p:sp>
        <p:nvSpPr>
          <p:cNvPr id="4" name="Shape 2"/>
          <p:cNvSpPr/>
          <p:nvPr/>
        </p:nvSpPr>
        <p:spPr>
          <a:xfrm>
            <a:off x="640080" y="1853375"/>
            <a:ext cx="402336" cy="402336"/>
          </a:xfrm>
          <a:prstGeom prst="ellipse">
            <a:avLst/>
          </a:prstGeom>
          <a:solidFill>
            <a:srgbClr val="2BB673"/>
          </a:solidFill>
          <a:ln/>
        </p:spPr>
      </p:sp>
      <p:sp>
        <p:nvSpPr>
          <p:cNvPr id="5" name="Text 3"/>
          <p:cNvSpPr/>
          <p:nvPr/>
        </p:nvSpPr>
        <p:spPr>
          <a:xfrm>
            <a:off x="640080" y="1853375"/>
            <a:ext cx="402336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FFFFFF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✓</a:t>
            </a:r>
            <a:endParaRPr lang="en-US" sz="1500" dirty="0"/>
          </a:p>
        </p:txBody>
      </p:sp>
      <p:sp>
        <p:nvSpPr>
          <p:cNvPr id="6" name="Text 4"/>
          <p:cNvSpPr/>
          <p:nvPr/>
        </p:nvSpPr>
        <p:spPr>
          <a:xfrm>
            <a:off x="1234440" y="1691640"/>
            <a:ext cx="7269480" cy="725805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50" dirty="0">
                <a:solidFill>
                  <a:srgbClr val="2E386E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Choisis ta meilleure vidéo de valeur</a:t>
            </a:r>
            <a:endParaRPr lang="en-US" sz="1550" dirty="0"/>
          </a:p>
        </p:txBody>
      </p:sp>
      <p:sp>
        <p:nvSpPr>
          <p:cNvPr id="7" name="Shape 5"/>
          <p:cNvSpPr/>
          <p:nvPr/>
        </p:nvSpPr>
        <p:spPr>
          <a:xfrm>
            <a:off x="640080" y="2579179"/>
            <a:ext cx="402336" cy="402336"/>
          </a:xfrm>
          <a:prstGeom prst="ellipse">
            <a:avLst/>
          </a:prstGeom>
          <a:solidFill>
            <a:srgbClr val="2BB673"/>
          </a:solidFill>
          <a:ln/>
        </p:spPr>
      </p:sp>
      <p:sp>
        <p:nvSpPr>
          <p:cNvPr id="8" name="Text 6"/>
          <p:cNvSpPr/>
          <p:nvPr/>
        </p:nvSpPr>
        <p:spPr>
          <a:xfrm>
            <a:off x="640080" y="2579179"/>
            <a:ext cx="402336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FFFFFF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✓</a:t>
            </a:r>
            <a:endParaRPr lang="en-US" sz="1500" dirty="0"/>
          </a:p>
        </p:txBody>
      </p:sp>
      <p:sp>
        <p:nvSpPr>
          <p:cNvPr id="9" name="Text 7"/>
          <p:cNvSpPr/>
          <p:nvPr/>
        </p:nvSpPr>
        <p:spPr>
          <a:xfrm>
            <a:off x="1234440" y="2417445"/>
            <a:ext cx="7269480" cy="725805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50" dirty="0">
                <a:solidFill>
                  <a:srgbClr val="2E386E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Repère son moment le plus attendu</a:t>
            </a:r>
            <a:endParaRPr lang="en-US" sz="1550" dirty="0"/>
          </a:p>
        </p:txBody>
      </p:sp>
      <p:sp>
        <p:nvSpPr>
          <p:cNvPr id="10" name="Shape 8"/>
          <p:cNvSpPr/>
          <p:nvPr/>
        </p:nvSpPr>
        <p:spPr>
          <a:xfrm>
            <a:off x="640080" y="3304985"/>
            <a:ext cx="402336" cy="402336"/>
          </a:xfrm>
          <a:prstGeom prst="ellipse">
            <a:avLst/>
          </a:prstGeom>
          <a:solidFill>
            <a:srgbClr val="2BB673"/>
          </a:solidFill>
          <a:ln/>
        </p:spPr>
      </p:sp>
      <p:sp>
        <p:nvSpPr>
          <p:cNvPr id="11" name="Text 9"/>
          <p:cNvSpPr/>
          <p:nvPr/>
        </p:nvSpPr>
        <p:spPr>
          <a:xfrm>
            <a:off x="640080" y="3304985"/>
            <a:ext cx="402336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FFFFFF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✓</a:t>
            </a:r>
            <a:endParaRPr lang="en-US" sz="1500" dirty="0"/>
          </a:p>
        </p:txBody>
      </p:sp>
      <p:sp>
        <p:nvSpPr>
          <p:cNvPr id="12" name="Text 10"/>
          <p:cNvSpPr/>
          <p:nvPr/>
        </p:nvSpPr>
        <p:spPr>
          <a:xfrm>
            <a:off x="1234440" y="3143250"/>
            <a:ext cx="7269480" cy="725805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50" dirty="0">
                <a:solidFill>
                  <a:srgbClr val="2E386E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Place un popquiz bloquant juste avant</a:t>
            </a:r>
            <a:endParaRPr lang="en-US" sz="1550" dirty="0"/>
          </a:p>
        </p:txBody>
      </p:sp>
      <p:sp>
        <p:nvSpPr>
          <p:cNvPr id="13" name="Shape 11"/>
          <p:cNvSpPr/>
          <p:nvPr/>
        </p:nvSpPr>
        <p:spPr>
          <a:xfrm>
            <a:off x="640080" y="4030789"/>
            <a:ext cx="402336" cy="402336"/>
          </a:xfrm>
          <a:prstGeom prst="ellipse">
            <a:avLst/>
          </a:prstGeom>
          <a:solidFill>
            <a:srgbClr val="2BB673"/>
          </a:solidFill>
          <a:ln/>
        </p:spPr>
      </p:sp>
      <p:sp>
        <p:nvSpPr>
          <p:cNvPr id="14" name="Text 12"/>
          <p:cNvSpPr/>
          <p:nvPr/>
        </p:nvSpPr>
        <p:spPr>
          <a:xfrm>
            <a:off x="640080" y="4030789"/>
            <a:ext cx="402336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FFFFFF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✓</a:t>
            </a:r>
            <a:endParaRPr lang="en-US" sz="1500" dirty="0"/>
          </a:p>
        </p:txBody>
      </p:sp>
      <p:sp>
        <p:nvSpPr>
          <p:cNvPr id="15" name="Text 13"/>
          <p:cNvSpPr/>
          <p:nvPr/>
        </p:nvSpPr>
        <p:spPr>
          <a:xfrm>
            <a:off x="1234440" y="3869055"/>
            <a:ext cx="7269480" cy="725805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50" dirty="0">
                <a:solidFill>
                  <a:srgbClr val="2E386E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Embarque la vidéo sur une page dédiée</a:t>
            </a:r>
            <a:endParaRPr lang="en-US" sz="1550" dirty="0"/>
          </a:p>
        </p:txBody>
      </p:sp>
      <p:sp>
        <p:nvSpPr>
          <p:cNvPr id="16" name="Text 14"/>
          <p:cNvSpPr/>
          <p:nvPr/>
        </p:nvSpPr>
        <p:spPr>
          <a:xfrm>
            <a:off x="457200" y="4759452"/>
            <a:ext cx="6400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b="1" dirty="0">
                <a:solidFill>
                  <a:srgbClr val="6B73A0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L'Atelier du Quiz</a:t>
            </a:r>
            <a:pPr indent="0" marL="0">
              <a:buNone/>
            </a:pPr>
            <a:r>
              <a:rPr lang="en-US" sz="900" dirty="0">
                <a:solidFill>
                  <a:srgbClr val="6B73A0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   ·   Bonus</a:t>
            </a:r>
            <a:endParaRPr lang="en-US" sz="900" dirty="0"/>
          </a:p>
        </p:txBody>
      </p:sp>
    </p:spTree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8">
    <p:bg>
      <p:bgPr>
        <a:solidFill>
          <a:srgbClr val="2E386E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7955280" y="-640080"/>
            <a:ext cx="2194560" cy="2194560"/>
          </a:xfrm>
          <a:prstGeom prst="ellipse">
            <a:avLst/>
          </a:prstGeom>
          <a:solidFill>
            <a:srgbClr val="5D6CDB">
              <a:alpha val="30000"/>
            </a:srgbClr>
          </a:solidFill>
          <a:ln/>
        </p:spPr>
      </p:sp>
      <p:sp>
        <p:nvSpPr>
          <p:cNvPr id="3" name="Shape 1"/>
          <p:cNvSpPr/>
          <p:nvPr/>
        </p:nvSpPr>
        <p:spPr>
          <a:xfrm>
            <a:off x="8686800" y="4023360"/>
            <a:ext cx="1554480" cy="1554480"/>
          </a:xfrm>
          <a:prstGeom prst="ellipse">
            <a:avLst/>
          </a:prstGeom>
          <a:solidFill>
            <a:srgbClr val="5D6CDB">
              <a:alpha val="20000"/>
            </a:srgbClr>
          </a:solidFill>
          <a:ln/>
        </p:spPr>
      </p:sp>
      <p:sp>
        <p:nvSpPr>
          <p:cNvPr id="4" name="Text 2"/>
          <p:cNvSpPr/>
          <p:nvPr/>
        </p:nvSpPr>
        <p:spPr>
          <a:xfrm>
            <a:off x="640080" y="1280160"/>
            <a:ext cx="78638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spc="200" kern="0" dirty="0">
                <a:solidFill>
                  <a:srgbClr val="F5B301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BRAVO, BONUS TERMINÉ</a:t>
            </a:r>
            <a:endParaRPr lang="en-US" sz="1400" dirty="0"/>
          </a:p>
        </p:txBody>
      </p:sp>
      <p:sp>
        <p:nvSpPr>
          <p:cNvPr id="5" name="Text 3"/>
          <p:cNvSpPr/>
          <p:nvPr/>
        </p:nvSpPr>
        <p:spPr>
          <a:xfrm>
            <a:off x="640080" y="1828800"/>
            <a:ext cx="7863840" cy="1645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05000"/>
              </a:lnSpc>
              <a:buNone/>
            </a:pPr>
            <a:r>
              <a:rPr lang="en-US" sz="2800" b="1" dirty="0">
                <a:solidFill>
                  <a:srgbClr val="FFFFFF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Et il reste les parcours de promo par réseau : Facebook, Instagram, LinkedIn, et plus.</a:t>
            </a:r>
            <a:endParaRPr lang="en-US" sz="2800" dirty="0"/>
          </a:p>
        </p:txBody>
      </p:sp>
      <p:sp>
        <p:nvSpPr>
          <p:cNvPr id="6" name="Text 4"/>
          <p:cNvSpPr/>
          <p:nvPr/>
        </p:nvSpPr>
        <p:spPr>
          <a:xfrm>
            <a:off x="658368" y="4206240"/>
            <a:ext cx="73152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EAECFB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L'Atelier du Quiz  ·  Méthode CAPTO®</a:t>
            </a:r>
            <a:endParaRPr lang="en-US" sz="12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18</Slides>
  <Notes>18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18</vt:i4>
      </vt:variant>
    </vt:vector>
  </HeadingPairs>
  <TitlesOfParts>
    <vt:vector size="21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  <vt:lpstr>Slide 10</vt:lpstr>
      <vt:lpstr>Slide 11</vt:lpstr>
      <vt:lpstr>Slide 12</vt:lpstr>
      <vt:lpstr>Slide 13</vt:lpstr>
      <vt:lpstr>Slide 14</vt:lpstr>
      <vt:lpstr>Slide 15</vt:lpstr>
      <vt:lpstr>Slide 16</vt:lpstr>
      <vt:lpstr>Slide 17</vt:lpstr>
      <vt:lpstr>Slide 18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L'Atelier du Quiz - Jour undefined</dc:title>
  <dc:subject>PptxGenJS Presentation</dc:subject>
  <dc:creator>L'Atelier du Quiz</dc:creator>
  <cp:lastModifiedBy>L'Atelier du Quiz</cp:lastModifiedBy>
  <cp:revision>1</cp:revision>
  <dcterms:created xsi:type="dcterms:W3CDTF">2026-07-09T14:35:12Z</dcterms:created>
  <dcterms:modified xsi:type="dcterms:W3CDTF">2026-07-09T14:35:12Z</dcterms:modified>
</cp:coreProperties>
</file>